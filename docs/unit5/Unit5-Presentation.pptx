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My name is Hayat Dahraj, and today I will be presenting Project Clara, a proposed mobile application designed to consolidate school communication into a single platform for Denton K-12 public schools. This presentation summarizes my formal research report prepared for TECM 4180.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fragmentation. A national study found 42% of parents rated their satisfaction with managing multiple school apps at 5 out of 10 or lower. Most schools use between 10 and 15 separate educational apps. My own survey of Denton-area respondents confirmed that families here juggle 3 to 4 different communication platforms just to stay informed about their child's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research question guiding this study is: can a unified, mobile-first communication platform address the documented fragmentation in school communication tools while meeting federal privacy requirements and the practical constraints of a student-led development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three research methods. First, an email interview with our technical advisor, Indira Devi Siripurapu, a Ph.D. candidate at UNT, who assessed the feasibility of our React Native and AWS architecture. Second, I reviewed five scholarly and industry sources covering communication fragmentation, cross-platform development, digital equity, and FERPA compliance. Third, I distributed a Qualtrics survey to 33 Denton-area respondents to capture community attitudes toward school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major finding is that school communication is fragmented and inadequate. Only 10 of 33 respondents expressed any satisfaction with current methods. Schools rely on email, phone calls, and social media rather than dedicated apps. Only 10 respondents even noted using a school-specific app like ClassDojo or Remind. Respondents described struggling with multiple communication modes and confusion across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60% of respondents said they would be likely or very likely to use a single consolidated app. No respondent selected Very Unlikely. The features rated most important were emergency notifications, absence reporting, student records access, and direct messaging with teachers. These priorities map directly onto Project Clara's proposed feature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two-thirds of respondents expressed concern about the security of student data in school apps. No respondent said they were unconcerned. Project Clara's architecture directly addresses this through AWS-based encryption, role-based access control so parents only see their child and staff only see what they need, audit logging, and full FERPA compliance through AWS's Shared Responsibility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expert interview and secondary sources confirmed that React Native offers near-native performance for cross-platform development. AWS provides FERPA-compliant infrastructure. Our advisor recommended a phased MVP approach, saying she'd rather we build a smaller version that works well than a big version that's unreliable. And research by Kraft and Rogers showed that improved parent-teacher communication directly improves student academic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from all three methods converge. National fragmentation patterns were confirmed locally. The community's adoption interest aligns directly with Clara's feature set. Security concerns mean any platform must earn trust through visible practices. The mobile-first design is essential for equity since many families rely solely on smartphones. One limitation is that the survey skewed toward college-aged respondents, though many had direct family experience with K-12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findings, I recommend four actions. First, approve a pilot deployment at one Denton ISD elementary school in partnership with UNT's Computer Science department. Second, assign a liaison from the Technology Division under Robert Pierce to collaborate on integration and security. Third, conduct a follow-up survey specifically targeting parents at the pilot school. And fourth, adopt a phased timeline starting with core features before adding advanced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research demonstrates that school communication in Denton is fragmented, the community wants a unified solution, and the technology exists to build one securely and affordably. Project Clara represents an opportunity for Denton ISD to lead in family communication technology while directly supporting student academic outcomes. Thank you for your time. I welcome any questions at HayatDahraj@my.unt.edu.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Shape 1"/>
          <p:cNvSpPr/>
          <p:nvPr/>
        </p:nvSpPr>
        <p:spPr>
          <a:xfrm>
            <a:off x="0" y="1828800"/>
            <a:ext cx="9144000" cy="2011680"/>
          </a:xfrm>
          <a:prstGeom prst="rect">
            <a:avLst/>
          </a:prstGeom>
          <a:solidFill>
            <a:srgbClr val="00853E"/>
          </a:solidFill>
          <a:ln/>
        </p:spPr>
      </p:sp>
      <p:sp>
        <p:nvSpPr>
          <p:cNvPr id="4" name="Text 2"/>
          <p:cNvSpPr/>
          <p:nvPr/>
        </p:nvSpPr>
        <p:spPr>
          <a:xfrm>
            <a:off x="731520" y="1920240"/>
            <a:ext cx="7680960" cy="82296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Project Clara</a:t>
            </a:r>
            <a:endParaRPr lang="en-US" sz="4400" dirty="0"/>
          </a:p>
        </p:txBody>
      </p:sp>
      <p:sp>
        <p:nvSpPr>
          <p:cNvPr id="5" name="Text 3"/>
          <p:cNvSpPr/>
          <p:nvPr/>
        </p:nvSpPr>
        <p:spPr>
          <a:xfrm>
            <a:off x="731520" y="2651760"/>
            <a:ext cx="7680960" cy="54864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Unified School Communication Platform for Denton K-12</a:t>
            </a:r>
            <a:endParaRPr lang="en-US" sz="1800" dirty="0"/>
          </a:p>
        </p:txBody>
      </p:sp>
      <p:sp>
        <p:nvSpPr>
          <p:cNvPr id="6" name="Text 4"/>
          <p:cNvSpPr/>
          <p:nvPr/>
        </p:nvSpPr>
        <p:spPr>
          <a:xfrm>
            <a:off x="731520" y="3291840"/>
            <a:ext cx="7680960" cy="365760"/>
          </a:xfrm>
          <a:prstGeom prst="rect">
            <a:avLst/>
          </a:prstGeom>
          <a:noFill/>
          <a:ln/>
        </p:spPr>
        <p:txBody>
          <a:bodyPr wrap="square" rtlCol="0" anchor="ctr"/>
          <a:lstStyle/>
          <a:p>
            <a:pPr indent="0" marL="0">
              <a:buNone/>
            </a:pPr>
            <a:r>
              <a:rPr lang="en-US" sz="1300" dirty="0">
                <a:solidFill>
                  <a:srgbClr val="CCCCCC"/>
                </a:solidFill>
                <a:latin typeface="Calibri" pitchFamily="34" charset="0"/>
                <a:ea typeface="Calibri" pitchFamily="34" charset="-122"/>
                <a:cs typeface="Calibri" pitchFamily="34" charset="-120"/>
              </a:rPr>
              <a:t>Hayat Dahraj  |  Computer Science  |  University of North Texas</a:t>
            </a:r>
            <a:endParaRPr lang="en-US" sz="1300" dirty="0"/>
          </a:p>
        </p:txBody>
      </p:sp>
      <p:sp>
        <p:nvSpPr>
          <p:cNvPr id="7" name="Text 5"/>
          <p:cNvSpPr/>
          <p:nvPr/>
        </p:nvSpPr>
        <p:spPr>
          <a:xfrm>
            <a:off x="731520" y="3657600"/>
            <a:ext cx="7680960" cy="274320"/>
          </a:xfrm>
          <a:prstGeom prst="rect">
            <a:avLst/>
          </a:prstGeom>
          <a:noFill/>
          <a:ln/>
        </p:spPr>
        <p:txBody>
          <a:bodyPr wrap="square" rtlCol="0" anchor="ctr"/>
          <a:lstStyle/>
          <a:p>
            <a:pPr indent="0" marL="0">
              <a:buNone/>
            </a:pPr>
            <a:r>
              <a:rPr lang="en-US" sz="1200" dirty="0">
                <a:solidFill>
                  <a:srgbClr val="999999"/>
                </a:solidFill>
                <a:latin typeface="Calibri" pitchFamily="34" charset="0"/>
                <a:ea typeface="Calibri" pitchFamily="34" charset="-122"/>
                <a:cs typeface="Calibri" pitchFamily="34" charset="-120"/>
              </a:rPr>
              <a:t>April 12,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5F1"/>
          </a:solidFill>
          <a:ln/>
        </p:spPr>
      </p:sp>
      <p:sp>
        <p:nvSpPr>
          <p:cNvPr id="3" name="Shape 1"/>
          <p:cNvSpPr/>
          <p:nvPr/>
        </p:nvSpPr>
        <p:spPr>
          <a:xfrm>
            <a:off x="0" y="0"/>
            <a:ext cx="9144000" cy="73152"/>
          </a:xfrm>
          <a:prstGeom prst="rect">
            <a:avLst/>
          </a:prstGeom>
          <a:solidFill>
            <a:srgbClr val="00853E"/>
          </a:solidFill>
          <a:ln/>
        </p:spPr>
      </p:sp>
      <p:sp>
        <p:nvSpPr>
          <p:cNvPr id="4" name="Shape 2"/>
          <p:cNvSpPr/>
          <p:nvPr/>
        </p:nvSpPr>
        <p:spPr>
          <a:xfrm>
            <a:off x="0" y="4800600"/>
            <a:ext cx="9144000" cy="342900"/>
          </a:xfrm>
          <a:prstGeom prst="rect">
            <a:avLst/>
          </a:prstGeom>
          <a:solidFill>
            <a:srgbClr val="00853E"/>
          </a:solidFill>
          <a:ln/>
        </p:spPr>
      </p:sp>
      <p:sp>
        <p:nvSpPr>
          <p:cNvPr id="5" name="Text 3"/>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THE PROBLEM</a:t>
            </a:r>
            <a:endParaRPr lang="en-US" sz="3000" dirty="0"/>
          </a:p>
        </p:txBody>
      </p:sp>
      <p:sp>
        <p:nvSpPr>
          <p:cNvPr id="6" name="Text 4"/>
          <p:cNvSpPr/>
          <p:nvPr/>
        </p:nvSpPr>
        <p:spPr>
          <a:xfrm>
            <a:off x="731520" y="822960"/>
            <a:ext cx="7680960" cy="365760"/>
          </a:xfrm>
          <a:prstGeom prst="rect">
            <a:avLst/>
          </a:prstGeom>
          <a:noFill/>
          <a:ln/>
        </p:spPr>
        <p:txBody>
          <a:bodyPr wrap="square" rtlCol="0" anchor="ctr"/>
          <a:lstStyle/>
          <a:p>
            <a:pPr indent="0" marL="0">
              <a:buNone/>
            </a:pPr>
            <a:r>
              <a:rPr lang="en-US" sz="1600" i="1" dirty="0">
                <a:solidFill>
                  <a:srgbClr val="00853E"/>
                </a:solidFill>
                <a:latin typeface="Calibri" pitchFamily="34" charset="0"/>
                <a:ea typeface="Calibri" pitchFamily="34" charset="-122"/>
                <a:cs typeface="Calibri" pitchFamily="34" charset="-120"/>
              </a:rPr>
              <a:t>School communication is fragmented</a:t>
            </a:r>
            <a:endParaRPr lang="en-US" sz="1600" dirty="0"/>
          </a:p>
        </p:txBody>
      </p:sp>
      <p:sp>
        <p:nvSpPr>
          <p:cNvPr id="7" name="Shape 5"/>
          <p:cNvSpPr/>
          <p:nvPr/>
        </p:nvSpPr>
        <p:spPr>
          <a:xfrm>
            <a:off x="731520" y="1463040"/>
            <a:ext cx="2377440" cy="2560320"/>
          </a:xfrm>
          <a:prstGeom prst="roundRect">
            <a:avLst>
              <a:gd name="adj" fmla="val 3846"/>
            </a:avLst>
          </a:prstGeom>
          <a:solidFill>
            <a:srgbClr val="FFFFFF"/>
          </a:solidFill>
          <a:ln/>
          <a:effectLst>
            <a:outerShdw sx="100000" sy="100000" kx="0" ky="0" algn="bl" rotWithShape="0" blurRad="50800" dist="25400" dir="8100000">
              <a:srgbClr val="000000">
                <a:alpha val="10000"/>
              </a:srgbClr>
            </a:outerShdw>
          </a:effectLst>
        </p:spPr>
      </p:sp>
      <p:sp>
        <p:nvSpPr>
          <p:cNvPr id="8" name="Text 6"/>
          <p:cNvSpPr/>
          <p:nvPr/>
        </p:nvSpPr>
        <p:spPr>
          <a:xfrm>
            <a:off x="731520" y="1645920"/>
            <a:ext cx="2377440" cy="731520"/>
          </a:xfrm>
          <a:prstGeom prst="rect">
            <a:avLst/>
          </a:prstGeom>
          <a:noFill/>
          <a:ln/>
        </p:spPr>
        <p:txBody>
          <a:bodyPr wrap="square" rtlCol="0" anchor="ctr"/>
          <a:lstStyle/>
          <a:p>
            <a:pPr algn="ctr" indent="0" marL="0">
              <a:buNone/>
            </a:pPr>
            <a:r>
              <a:rPr lang="en-US" sz="3600" b="1" dirty="0">
                <a:solidFill>
                  <a:srgbClr val="00853E"/>
                </a:solidFill>
                <a:latin typeface="Georgia" pitchFamily="34" charset="0"/>
                <a:ea typeface="Georgia" pitchFamily="34" charset="-122"/>
                <a:cs typeface="Georgia" pitchFamily="34" charset="-120"/>
              </a:rPr>
              <a:t>42%</a:t>
            </a:r>
            <a:endParaRPr lang="en-US" sz="3600" dirty="0"/>
          </a:p>
        </p:txBody>
      </p:sp>
      <p:sp>
        <p:nvSpPr>
          <p:cNvPr id="9" name="Text 7"/>
          <p:cNvSpPr/>
          <p:nvPr/>
        </p:nvSpPr>
        <p:spPr>
          <a:xfrm>
            <a:off x="914400" y="2377440"/>
            <a:ext cx="2011680" cy="137160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of parents rate app</a:t>
            </a:r>
            <a:endParaRPr lang="en-US" sz="1200" dirty="0"/>
          </a:p>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satisfaction at 5/10</a:t>
            </a:r>
            <a:endParaRPr lang="en-US" sz="1200" dirty="0"/>
          </a:p>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or lower (Skinner)</a:t>
            </a:r>
            <a:endParaRPr lang="en-US" sz="1200" dirty="0"/>
          </a:p>
        </p:txBody>
      </p:sp>
      <p:sp>
        <p:nvSpPr>
          <p:cNvPr id="10" name="Shape 8"/>
          <p:cNvSpPr/>
          <p:nvPr/>
        </p:nvSpPr>
        <p:spPr>
          <a:xfrm>
            <a:off x="3474720" y="1463040"/>
            <a:ext cx="2377440" cy="2560320"/>
          </a:xfrm>
          <a:prstGeom prst="roundRect">
            <a:avLst>
              <a:gd name="adj" fmla="val 3846"/>
            </a:avLst>
          </a:prstGeom>
          <a:solidFill>
            <a:srgbClr val="FFFFFF"/>
          </a:solidFill>
          <a:ln/>
          <a:effectLst>
            <a:outerShdw sx="100000" sy="100000" kx="0" ky="0" algn="bl" rotWithShape="0" blurRad="50800" dist="25400" dir="8100000">
              <a:srgbClr val="000000">
                <a:alpha val="10000"/>
              </a:srgbClr>
            </a:outerShdw>
          </a:effectLst>
        </p:spPr>
      </p:sp>
      <p:sp>
        <p:nvSpPr>
          <p:cNvPr id="11" name="Text 9"/>
          <p:cNvSpPr/>
          <p:nvPr/>
        </p:nvSpPr>
        <p:spPr>
          <a:xfrm>
            <a:off x="3474720" y="1645920"/>
            <a:ext cx="2377440" cy="731520"/>
          </a:xfrm>
          <a:prstGeom prst="rect">
            <a:avLst/>
          </a:prstGeom>
          <a:noFill/>
          <a:ln/>
        </p:spPr>
        <p:txBody>
          <a:bodyPr wrap="square" rtlCol="0" anchor="ctr"/>
          <a:lstStyle/>
          <a:p>
            <a:pPr algn="ctr" indent="0" marL="0">
              <a:buNone/>
            </a:pPr>
            <a:r>
              <a:rPr lang="en-US" sz="3600" b="1" dirty="0">
                <a:solidFill>
                  <a:srgbClr val="00853E"/>
                </a:solidFill>
                <a:latin typeface="Georgia" pitchFamily="34" charset="0"/>
                <a:ea typeface="Georgia" pitchFamily="34" charset="-122"/>
                <a:cs typeface="Georgia" pitchFamily="34" charset="-120"/>
              </a:rPr>
              <a:t>10-15</a:t>
            </a:r>
            <a:endParaRPr lang="en-US" sz="3600" dirty="0"/>
          </a:p>
        </p:txBody>
      </p:sp>
      <p:sp>
        <p:nvSpPr>
          <p:cNvPr id="12" name="Text 10"/>
          <p:cNvSpPr/>
          <p:nvPr/>
        </p:nvSpPr>
        <p:spPr>
          <a:xfrm>
            <a:off x="3657600" y="2377440"/>
            <a:ext cx="2011680" cy="137160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separate apps used</a:t>
            </a:r>
            <a:endParaRPr lang="en-US" sz="1200" dirty="0"/>
          </a:p>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by most schools</a:t>
            </a:r>
            <a:endParaRPr lang="en-US" sz="1200" dirty="0"/>
          </a:p>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(Skinner)</a:t>
            </a:r>
            <a:endParaRPr lang="en-US" sz="1200" dirty="0"/>
          </a:p>
        </p:txBody>
      </p:sp>
      <p:sp>
        <p:nvSpPr>
          <p:cNvPr id="13" name="Shape 11"/>
          <p:cNvSpPr/>
          <p:nvPr/>
        </p:nvSpPr>
        <p:spPr>
          <a:xfrm>
            <a:off x="6217920" y="1463040"/>
            <a:ext cx="2377440" cy="2560320"/>
          </a:xfrm>
          <a:prstGeom prst="roundRect">
            <a:avLst>
              <a:gd name="adj" fmla="val 3846"/>
            </a:avLst>
          </a:prstGeom>
          <a:solidFill>
            <a:srgbClr val="FFFFFF"/>
          </a:solidFill>
          <a:ln/>
          <a:effectLst>
            <a:outerShdw sx="100000" sy="100000" kx="0" ky="0" algn="bl" rotWithShape="0" blurRad="50800" dist="25400" dir="8100000">
              <a:srgbClr val="000000">
                <a:alpha val="10000"/>
              </a:srgbClr>
            </a:outerShdw>
          </a:effectLst>
        </p:spPr>
      </p:sp>
      <p:sp>
        <p:nvSpPr>
          <p:cNvPr id="14" name="Text 12"/>
          <p:cNvSpPr/>
          <p:nvPr/>
        </p:nvSpPr>
        <p:spPr>
          <a:xfrm>
            <a:off x="6217920" y="1645920"/>
            <a:ext cx="2377440" cy="731520"/>
          </a:xfrm>
          <a:prstGeom prst="rect">
            <a:avLst/>
          </a:prstGeom>
          <a:noFill/>
          <a:ln/>
        </p:spPr>
        <p:txBody>
          <a:bodyPr wrap="square" rtlCol="0" anchor="ctr"/>
          <a:lstStyle/>
          <a:p>
            <a:pPr algn="ctr" indent="0" marL="0">
              <a:buNone/>
            </a:pPr>
            <a:r>
              <a:rPr lang="en-US" sz="3600" b="1" dirty="0">
                <a:solidFill>
                  <a:srgbClr val="00853E"/>
                </a:solidFill>
                <a:latin typeface="Georgia" pitchFamily="34" charset="0"/>
                <a:ea typeface="Georgia" pitchFamily="34" charset="-122"/>
                <a:cs typeface="Georgia" pitchFamily="34" charset="-120"/>
              </a:rPr>
              <a:t>3-4</a:t>
            </a:r>
            <a:endParaRPr lang="en-US" sz="3600" dirty="0"/>
          </a:p>
        </p:txBody>
      </p:sp>
      <p:sp>
        <p:nvSpPr>
          <p:cNvPr id="15" name="Text 13"/>
          <p:cNvSpPr/>
          <p:nvPr/>
        </p:nvSpPr>
        <p:spPr>
          <a:xfrm>
            <a:off x="6400800" y="2377440"/>
            <a:ext cx="2011680" cy="137160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communication tools</a:t>
            </a:r>
            <a:endParaRPr lang="en-US" sz="1200" dirty="0"/>
          </a:p>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per school in</a:t>
            </a:r>
            <a:endParaRPr lang="en-US" sz="1200" dirty="0"/>
          </a:p>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Denton area (Dahraj)</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Shape 1"/>
          <p:cNvSpPr/>
          <p:nvPr/>
        </p:nvSpPr>
        <p:spPr>
          <a:xfrm>
            <a:off x="457200" y="1371600"/>
            <a:ext cx="8229600" cy="2286000"/>
          </a:xfrm>
          <a:prstGeom prst="rect">
            <a:avLst/>
          </a:prstGeom>
          <a:solidFill>
            <a:srgbClr val="00853E"/>
          </a:solidFill>
          <a:ln/>
        </p:spPr>
      </p:sp>
      <p:sp>
        <p:nvSpPr>
          <p:cNvPr id="4" name="Text 2"/>
          <p:cNvSpPr/>
          <p:nvPr/>
        </p:nvSpPr>
        <p:spPr>
          <a:xfrm>
            <a:off x="731520" y="457200"/>
            <a:ext cx="7680960" cy="548640"/>
          </a:xfrm>
          <a:prstGeom prst="rect">
            <a:avLst/>
          </a:prstGeom>
          <a:noFill/>
          <a:ln/>
        </p:spPr>
        <p:txBody>
          <a:bodyPr wrap="square" rtlCol="0" anchor="ctr"/>
          <a:lstStyle/>
          <a:p>
            <a:pPr indent="0" marL="0">
              <a:buNone/>
            </a:pPr>
            <a:r>
              <a:rPr lang="en-US" sz="1600" spc="400" kern="0" dirty="0">
                <a:solidFill>
                  <a:srgbClr val="999999"/>
                </a:solidFill>
                <a:latin typeface="Calibri" pitchFamily="34" charset="0"/>
                <a:ea typeface="Calibri" pitchFamily="34" charset="-122"/>
                <a:cs typeface="Calibri" pitchFamily="34" charset="-120"/>
              </a:rPr>
              <a:t>RESEARCH QUESTION</a:t>
            </a:r>
            <a:endParaRPr lang="en-US" sz="1600" dirty="0"/>
          </a:p>
        </p:txBody>
      </p:sp>
      <p:sp>
        <p:nvSpPr>
          <p:cNvPr id="5" name="Text 3"/>
          <p:cNvSpPr/>
          <p:nvPr/>
        </p:nvSpPr>
        <p:spPr>
          <a:xfrm>
            <a:off x="914400" y="1554480"/>
            <a:ext cx="7315200" cy="1920240"/>
          </a:xfrm>
          <a:prstGeom prst="rect">
            <a:avLst/>
          </a:prstGeom>
          <a:noFill/>
          <a:ln/>
        </p:spPr>
        <p:txBody>
          <a:bodyPr wrap="square" rtlCol="0" anchor="ctr"/>
          <a:lstStyle/>
          <a:p>
            <a:pPr algn="ctr" indent="0" marL="0">
              <a:buNone/>
            </a:pPr>
            <a:r>
              <a:rPr lang="en-US" sz="2000" i="1" dirty="0">
                <a:solidFill>
                  <a:srgbClr val="FFFFFF"/>
                </a:solidFill>
                <a:latin typeface="Georgia" pitchFamily="34" charset="0"/>
                <a:ea typeface="Georgia" pitchFamily="34" charset="-122"/>
                <a:cs typeface="Georgia" pitchFamily="34" charset="-120"/>
              </a:rPr>
              <a:t>Can a unified, mobile-first communication platform address the documented fragmentation in school communication tools while meeting federal privacy requirements?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5F1"/>
          </a:solidFill>
          <a:ln/>
        </p:spPr>
      </p:sp>
      <p:sp>
        <p:nvSpPr>
          <p:cNvPr id="3" name="Shape 1"/>
          <p:cNvSpPr/>
          <p:nvPr/>
        </p:nvSpPr>
        <p:spPr>
          <a:xfrm>
            <a:off x="0" y="0"/>
            <a:ext cx="9144000" cy="73152"/>
          </a:xfrm>
          <a:prstGeom prst="rect">
            <a:avLst/>
          </a:prstGeom>
          <a:solidFill>
            <a:srgbClr val="00853E"/>
          </a:solidFill>
          <a:ln/>
        </p:spPr>
      </p:sp>
      <p:sp>
        <p:nvSpPr>
          <p:cNvPr id="4" name="Shape 2"/>
          <p:cNvSpPr/>
          <p:nvPr/>
        </p:nvSpPr>
        <p:spPr>
          <a:xfrm>
            <a:off x="0" y="4800600"/>
            <a:ext cx="9144000" cy="342900"/>
          </a:xfrm>
          <a:prstGeom prst="rect">
            <a:avLst/>
          </a:prstGeom>
          <a:solidFill>
            <a:srgbClr val="00853E"/>
          </a:solidFill>
          <a:ln/>
        </p:spPr>
      </p:sp>
      <p:sp>
        <p:nvSpPr>
          <p:cNvPr id="5" name="Text 3"/>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METHODOLOGY</a:t>
            </a:r>
            <a:endParaRPr lang="en-US" sz="3000" dirty="0"/>
          </a:p>
        </p:txBody>
      </p:sp>
      <p:sp>
        <p:nvSpPr>
          <p:cNvPr id="6" name="Text 4"/>
          <p:cNvSpPr/>
          <p:nvPr/>
        </p:nvSpPr>
        <p:spPr>
          <a:xfrm>
            <a:off x="731520" y="822960"/>
            <a:ext cx="7680960" cy="365760"/>
          </a:xfrm>
          <a:prstGeom prst="rect">
            <a:avLst/>
          </a:prstGeom>
          <a:noFill/>
          <a:ln/>
        </p:spPr>
        <p:txBody>
          <a:bodyPr wrap="square" rtlCol="0" anchor="ctr"/>
          <a:lstStyle/>
          <a:p>
            <a:pPr indent="0" marL="0">
              <a:buNone/>
            </a:pPr>
            <a:r>
              <a:rPr lang="en-US" sz="1600" i="1" dirty="0">
                <a:solidFill>
                  <a:srgbClr val="00853E"/>
                </a:solidFill>
                <a:latin typeface="Calibri" pitchFamily="34" charset="0"/>
                <a:ea typeface="Calibri" pitchFamily="34" charset="-122"/>
                <a:cs typeface="Calibri" pitchFamily="34" charset="-120"/>
              </a:rPr>
              <a:t>Three complementary research methods</a:t>
            </a:r>
            <a:endParaRPr lang="en-US" sz="1600" dirty="0"/>
          </a:p>
        </p:txBody>
      </p:sp>
      <p:sp>
        <p:nvSpPr>
          <p:cNvPr id="7" name="Shape 5"/>
          <p:cNvSpPr/>
          <p:nvPr/>
        </p:nvSpPr>
        <p:spPr>
          <a:xfrm>
            <a:off x="731520" y="1554480"/>
            <a:ext cx="457200" cy="457200"/>
          </a:xfrm>
          <a:prstGeom prst="ellipse">
            <a:avLst/>
          </a:prstGeom>
          <a:solidFill>
            <a:srgbClr val="00853E"/>
          </a:solidFill>
          <a:ln/>
        </p:spPr>
      </p:sp>
      <p:sp>
        <p:nvSpPr>
          <p:cNvPr id="8" name="Text 6"/>
          <p:cNvSpPr/>
          <p:nvPr/>
        </p:nvSpPr>
        <p:spPr>
          <a:xfrm>
            <a:off x="731520" y="15544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463040" y="1463040"/>
            <a:ext cx="2011680" cy="6400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Expert Interview</a:t>
            </a:r>
            <a:endParaRPr lang="en-US" sz="1500" dirty="0"/>
          </a:p>
        </p:txBody>
      </p:sp>
      <p:sp>
        <p:nvSpPr>
          <p:cNvPr id="10" name="Text 8"/>
          <p:cNvSpPr/>
          <p:nvPr/>
        </p:nvSpPr>
        <p:spPr>
          <a:xfrm>
            <a:off x="3474720" y="1463040"/>
            <a:ext cx="5029200" cy="640080"/>
          </a:xfrm>
          <a:prstGeom prst="rect">
            <a:avLst/>
          </a:prstGeom>
          <a:noFill/>
          <a:ln/>
        </p:spPr>
        <p:txBody>
          <a:bodyPr wrap="square" rtlCol="0" anchor="ctr"/>
          <a:lstStyle/>
          <a:p>
            <a:pPr indent="0" marL="0">
              <a:buNone/>
            </a:pPr>
            <a:r>
              <a:rPr lang="en-US" sz="1200" dirty="0">
                <a:solidFill>
                  <a:srgbClr val="666666"/>
                </a:solidFill>
                <a:latin typeface="Calibri" pitchFamily="34" charset="0"/>
                <a:ea typeface="Calibri" pitchFamily="34" charset="-122"/>
                <a:cs typeface="Calibri" pitchFamily="34" charset="-120"/>
              </a:rPr>
              <a:t>Email interview with Indira Devi Siripurapu, Ph.D. Candidate at UNT, covering architecture, security, and scope</a:t>
            </a:r>
            <a:endParaRPr lang="en-US" sz="1200" dirty="0"/>
          </a:p>
        </p:txBody>
      </p:sp>
      <p:sp>
        <p:nvSpPr>
          <p:cNvPr id="11" name="Shape 9"/>
          <p:cNvSpPr/>
          <p:nvPr/>
        </p:nvSpPr>
        <p:spPr>
          <a:xfrm>
            <a:off x="731520" y="2651760"/>
            <a:ext cx="457200" cy="457200"/>
          </a:xfrm>
          <a:prstGeom prst="ellipse">
            <a:avLst/>
          </a:prstGeom>
          <a:solidFill>
            <a:srgbClr val="00853E"/>
          </a:solidFill>
          <a:ln/>
        </p:spPr>
      </p:sp>
      <p:sp>
        <p:nvSpPr>
          <p:cNvPr id="12" name="Text 10"/>
          <p:cNvSpPr/>
          <p:nvPr/>
        </p:nvSpPr>
        <p:spPr>
          <a:xfrm>
            <a:off x="731520" y="26517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463040" y="2560320"/>
            <a:ext cx="2011680" cy="6400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Secondary Research</a:t>
            </a:r>
            <a:endParaRPr lang="en-US" sz="1500" dirty="0"/>
          </a:p>
        </p:txBody>
      </p:sp>
      <p:sp>
        <p:nvSpPr>
          <p:cNvPr id="14" name="Text 12"/>
          <p:cNvSpPr/>
          <p:nvPr/>
        </p:nvSpPr>
        <p:spPr>
          <a:xfrm>
            <a:off x="3474720" y="2560320"/>
            <a:ext cx="5029200" cy="640080"/>
          </a:xfrm>
          <a:prstGeom prst="rect">
            <a:avLst/>
          </a:prstGeom>
          <a:noFill/>
          <a:ln/>
        </p:spPr>
        <p:txBody>
          <a:bodyPr wrap="square" rtlCol="0" anchor="ctr"/>
          <a:lstStyle/>
          <a:p>
            <a:pPr indent="0" marL="0">
              <a:buNone/>
            </a:pPr>
            <a:r>
              <a:rPr lang="en-US" sz="1200" dirty="0">
                <a:solidFill>
                  <a:srgbClr val="666666"/>
                </a:solidFill>
                <a:latin typeface="Calibri" pitchFamily="34" charset="0"/>
                <a:ea typeface="Calibri" pitchFamily="34" charset="-122"/>
                <a:cs typeface="Calibri" pitchFamily="34" charset="-120"/>
              </a:rPr>
              <a:t>5 scholarly and industry sources on fragmentation, cross-platform dev, digital equity, and FERPA compliance</a:t>
            </a:r>
            <a:endParaRPr lang="en-US" sz="1200" dirty="0"/>
          </a:p>
        </p:txBody>
      </p:sp>
      <p:sp>
        <p:nvSpPr>
          <p:cNvPr id="15" name="Shape 13"/>
          <p:cNvSpPr/>
          <p:nvPr/>
        </p:nvSpPr>
        <p:spPr>
          <a:xfrm>
            <a:off x="731520" y="3749040"/>
            <a:ext cx="457200" cy="457200"/>
          </a:xfrm>
          <a:prstGeom prst="ellipse">
            <a:avLst/>
          </a:prstGeom>
          <a:solidFill>
            <a:srgbClr val="00853E"/>
          </a:solidFill>
          <a:ln/>
        </p:spPr>
      </p:sp>
      <p:sp>
        <p:nvSpPr>
          <p:cNvPr id="16" name="Text 14"/>
          <p:cNvSpPr/>
          <p:nvPr/>
        </p:nvSpPr>
        <p:spPr>
          <a:xfrm>
            <a:off x="731520" y="37490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463040" y="3657600"/>
            <a:ext cx="2011680" cy="640080"/>
          </a:xfrm>
          <a:prstGeom prst="rect">
            <a:avLst/>
          </a:prstGeom>
          <a:noFill/>
          <a:ln/>
        </p:spPr>
        <p:txBody>
          <a:bodyPr wrap="square" lIns="0" tIns="0" rIns="0" bIns="0" rtlCol="0" anchor="ctr"/>
          <a:lstStyle/>
          <a:p>
            <a:pPr indent="0" marL="0">
              <a:buNone/>
            </a:pPr>
            <a:r>
              <a:rPr lang="en-US" sz="1500" b="1" dirty="0">
                <a:solidFill>
                  <a:srgbClr val="1A1A2E"/>
                </a:solidFill>
                <a:latin typeface="Calibri" pitchFamily="34" charset="0"/>
                <a:ea typeface="Calibri" pitchFamily="34" charset="-122"/>
                <a:cs typeface="Calibri" pitchFamily="34" charset="-120"/>
              </a:rPr>
              <a:t>Qualtrics eSurvey</a:t>
            </a:r>
            <a:endParaRPr lang="en-US" sz="1500" dirty="0"/>
          </a:p>
        </p:txBody>
      </p:sp>
      <p:sp>
        <p:nvSpPr>
          <p:cNvPr id="18" name="Text 16"/>
          <p:cNvSpPr/>
          <p:nvPr/>
        </p:nvSpPr>
        <p:spPr>
          <a:xfrm>
            <a:off x="3474720" y="3657600"/>
            <a:ext cx="5029200" cy="640080"/>
          </a:xfrm>
          <a:prstGeom prst="rect">
            <a:avLst/>
          </a:prstGeom>
          <a:noFill/>
          <a:ln/>
        </p:spPr>
        <p:txBody>
          <a:bodyPr wrap="square" rtlCol="0" anchor="ctr"/>
          <a:lstStyle/>
          <a:p>
            <a:pPr indent="0" marL="0">
              <a:buNone/>
            </a:pPr>
            <a:r>
              <a:rPr lang="en-US" sz="1200" dirty="0">
                <a:solidFill>
                  <a:srgbClr val="666666"/>
                </a:solidFill>
                <a:latin typeface="Calibri" pitchFamily="34" charset="0"/>
                <a:ea typeface="Calibri" pitchFamily="34" charset="-122"/>
                <a:cs typeface="Calibri" pitchFamily="34" charset="-120"/>
              </a:rPr>
              <a:t>33 Denton-area respondents on communication satisfaction, feature priorities, and data security concerns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5F1"/>
          </a:solidFill>
          <a:ln/>
        </p:spPr>
      </p:sp>
      <p:sp>
        <p:nvSpPr>
          <p:cNvPr id="3" name="Shape 1"/>
          <p:cNvSpPr/>
          <p:nvPr/>
        </p:nvSpPr>
        <p:spPr>
          <a:xfrm>
            <a:off x="0" y="0"/>
            <a:ext cx="9144000" cy="73152"/>
          </a:xfrm>
          <a:prstGeom prst="rect">
            <a:avLst/>
          </a:prstGeom>
          <a:solidFill>
            <a:srgbClr val="00853E"/>
          </a:solidFill>
          <a:ln/>
        </p:spPr>
      </p:sp>
      <p:sp>
        <p:nvSpPr>
          <p:cNvPr id="4" name="Shape 2"/>
          <p:cNvSpPr/>
          <p:nvPr/>
        </p:nvSpPr>
        <p:spPr>
          <a:xfrm>
            <a:off x="0" y="4800600"/>
            <a:ext cx="9144000" cy="342900"/>
          </a:xfrm>
          <a:prstGeom prst="rect">
            <a:avLst/>
          </a:prstGeom>
          <a:solidFill>
            <a:srgbClr val="00853E"/>
          </a:solidFill>
          <a:ln/>
        </p:spPr>
      </p:sp>
      <p:sp>
        <p:nvSpPr>
          <p:cNvPr id="5" name="Text 3"/>
          <p:cNvSpPr/>
          <p:nvPr/>
        </p:nvSpPr>
        <p:spPr>
          <a:xfrm>
            <a:off x="731520" y="274320"/>
            <a:ext cx="7680960" cy="640080"/>
          </a:xfrm>
          <a:prstGeom prst="rect">
            <a:avLst/>
          </a:prstGeom>
          <a:noFill/>
          <a:ln/>
        </p:spPr>
        <p:txBody>
          <a:bodyPr wrap="square" rtlCol="0" anchor="ctr"/>
          <a:lstStyle/>
          <a:p>
            <a:pPr indent="0" marL="0">
              <a:buNone/>
            </a:pPr>
            <a:r>
              <a:rPr lang="en-US" sz="2400" b="1" dirty="0">
                <a:solidFill>
                  <a:srgbClr val="1A1A2E"/>
                </a:solidFill>
                <a:latin typeface="Georgia" pitchFamily="34" charset="0"/>
                <a:ea typeface="Georgia" pitchFamily="34" charset="-122"/>
                <a:cs typeface="Georgia" pitchFamily="34" charset="-120"/>
              </a:rPr>
              <a:t>RESULTS: COMMUNICATION FRAGMENTATION</a:t>
            </a:r>
            <a:endParaRPr lang="en-US" sz="2400" dirty="0"/>
          </a:p>
        </p:txBody>
      </p:sp>
      <p:pic>
        <p:nvPicPr>
          <p:cNvPr id="6" name="Image 0" descr="/home/claude/chart4_satisfaction.png">    </p:cNvPr>
          <p:cNvPicPr>
            <a:picLocks noChangeAspect="1"/>
          </p:cNvPicPr>
          <p:nvPr/>
        </p:nvPicPr>
        <p:blipFill>
          <a:blip r:embed="rId1"/>
          <a:stretch>
            <a:fillRect/>
          </a:stretch>
        </p:blipFill>
        <p:spPr>
          <a:xfrm>
            <a:off x="457200" y="1005840"/>
            <a:ext cx="4114800" cy="2011680"/>
          </a:xfrm>
          <a:prstGeom prst="rect">
            <a:avLst/>
          </a:prstGeom>
        </p:spPr>
      </p:pic>
      <p:sp>
        <p:nvSpPr>
          <p:cNvPr id="7" name="Text 4"/>
          <p:cNvSpPr/>
          <p:nvPr/>
        </p:nvSpPr>
        <p:spPr>
          <a:xfrm>
            <a:off x="457200" y="3017520"/>
            <a:ext cx="4114800" cy="274320"/>
          </a:xfrm>
          <a:prstGeom prst="rect">
            <a:avLst/>
          </a:prstGeom>
          <a:noFill/>
          <a:ln/>
        </p:spPr>
        <p:txBody>
          <a:bodyPr wrap="square" rtlCol="0" anchor="ctr"/>
          <a:lstStyle/>
          <a:p>
            <a:pPr algn="ctr" indent="0" marL="0">
              <a:buNone/>
            </a:pPr>
            <a:r>
              <a:rPr lang="en-US" sz="900" i="1" dirty="0">
                <a:solidFill>
                  <a:srgbClr val="666666"/>
                </a:solidFill>
                <a:latin typeface="Calibri" pitchFamily="34" charset="0"/>
                <a:ea typeface="Calibri" pitchFamily="34" charset="-122"/>
                <a:cs typeface="Calibri" pitchFamily="34" charset="-120"/>
              </a:rPr>
              <a:t>Figure 1: Satisfaction with current school communication (n=33)</a:t>
            </a:r>
            <a:endParaRPr lang="en-US" sz="900" dirty="0"/>
          </a:p>
        </p:txBody>
      </p:sp>
      <p:sp>
        <p:nvSpPr>
          <p:cNvPr id="8" name="Text 5"/>
          <p:cNvSpPr/>
          <p:nvPr/>
        </p:nvSpPr>
        <p:spPr>
          <a:xfrm>
            <a:off x="4846320" y="1097280"/>
            <a:ext cx="3840480" cy="2743200"/>
          </a:xfrm>
          <a:prstGeom prst="rect">
            <a:avLst/>
          </a:prstGeom>
          <a:noFill/>
          <a:ln/>
        </p:spPr>
        <p:txBody>
          <a:bodyPr wrap="square" rtlCol="0" anchor="t"/>
          <a:lstStyle/>
          <a:p>
            <a:pPr indent="0" marL="0">
              <a:buNone/>
            </a:pPr>
            <a:r>
              <a:rPr lang="en-US" sz="1500" b="1" dirty="0">
                <a:solidFill>
                  <a:srgbClr val="1A1A2E"/>
                </a:solidFill>
                <a:latin typeface="Calibri" pitchFamily="34" charset="0"/>
                <a:ea typeface="Calibri" pitchFamily="34" charset="-122"/>
                <a:cs typeface="Calibri" pitchFamily="34" charset="-120"/>
              </a:rPr>
              <a:t>Key Findings</a:t>
            </a:r>
            <a:endParaRPr lang="en-US" sz="1500" dirty="0"/>
          </a:p>
          <a:p>
            <a:pPr indent="0" marL="0">
              <a:buNone/>
            </a:pPr>
            <a:endParaRPr lang="en-US" sz="15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Only 10 of 33 respondents expressed any satisfaction</a:t>
            </a:r>
            <a:endParaRPr lang="en-US" sz="15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Email (29), phone (23), and social media (20) dominate</a:t>
            </a:r>
            <a:endParaRPr lang="en-US" sz="15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Only 10 noted a dedicated school app</a:t>
            </a:r>
            <a:endParaRPr lang="en-US" sz="15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14 of 33 juggle multiple tools daily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5F1"/>
          </a:solidFill>
          <a:ln/>
        </p:spPr>
      </p:sp>
      <p:sp>
        <p:nvSpPr>
          <p:cNvPr id="3" name="Shape 1"/>
          <p:cNvSpPr/>
          <p:nvPr/>
        </p:nvSpPr>
        <p:spPr>
          <a:xfrm>
            <a:off x="0" y="0"/>
            <a:ext cx="9144000" cy="73152"/>
          </a:xfrm>
          <a:prstGeom prst="rect">
            <a:avLst/>
          </a:prstGeom>
          <a:solidFill>
            <a:srgbClr val="00853E"/>
          </a:solidFill>
          <a:ln/>
        </p:spPr>
      </p:sp>
      <p:sp>
        <p:nvSpPr>
          <p:cNvPr id="4" name="Shape 2"/>
          <p:cNvSpPr/>
          <p:nvPr/>
        </p:nvSpPr>
        <p:spPr>
          <a:xfrm>
            <a:off x="0" y="4800600"/>
            <a:ext cx="9144000" cy="342900"/>
          </a:xfrm>
          <a:prstGeom prst="rect">
            <a:avLst/>
          </a:prstGeom>
          <a:solidFill>
            <a:srgbClr val="00853E"/>
          </a:solidFill>
          <a:ln/>
        </p:spPr>
      </p:sp>
      <p:sp>
        <p:nvSpPr>
          <p:cNvPr id="5" name="Text 3"/>
          <p:cNvSpPr/>
          <p:nvPr/>
        </p:nvSpPr>
        <p:spPr>
          <a:xfrm>
            <a:off x="731520" y="274320"/>
            <a:ext cx="7680960" cy="640080"/>
          </a:xfrm>
          <a:prstGeom prst="rect">
            <a:avLst/>
          </a:prstGeom>
          <a:noFill/>
          <a:ln/>
        </p:spPr>
        <p:txBody>
          <a:bodyPr wrap="square" rtlCol="0" anchor="ctr"/>
          <a:lstStyle/>
          <a:p>
            <a:pPr indent="0" marL="0">
              <a:buNone/>
            </a:pPr>
            <a:r>
              <a:rPr lang="en-US" sz="2400" b="1" dirty="0">
                <a:solidFill>
                  <a:srgbClr val="1A1A2E"/>
                </a:solidFill>
                <a:latin typeface="Georgia" pitchFamily="34" charset="0"/>
                <a:ea typeface="Georgia" pitchFamily="34" charset="-122"/>
                <a:cs typeface="Georgia" pitchFamily="34" charset="-120"/>
              </a:rPr>
              <a:t>RESULTS: ADOPTION INTEREST</a:t>
            </a:r>
            <a:endParaRPr lang="en-US" sz="2400" dirty="0"/>
          </a:p>
        </p:txBody>
      </p:sp>
      <p:pic>
        <p:nvPicPr>
          <p:cNvPr id="6" name="Image 0" descr="/home/claude/chart1_likelihood.png">    </p:cNvPr>
          <p:cNvPicPr>
            <a:picLocks noChangeAspect="1"/>
          </p:cNvPicPr>
          <p:nvPr/>
        </p:nvPicPr>
        <p:blipFill>
          <a:blip r:embed="rId1"/>
          <a:stretch>
            <a:fillRect/>
          </a:stretch>
        </p:blipFill>
        <p:spPr>
          <a:xfrm>
            <a:off x="457200" y="1005840"/>
            <a:ext cx="4114800" cy="2377440"/>
          </a:xfrm>
          <a:prstGeom prst="rect">
            <a:avLst/>
          </a:prstGeom>
        </p:spPr>
      </p:pic>
      <p:sp>
        <p:nvSpPr>
          <p:cNvPr id="7" name="Text 4"/>
          <p:cNvSpPr/>
          <p:nvPr/>
        </p:nvSpPr>
        <p:spPr>
          <a:xfrm>
            <a:off x="457200" y="3383280"/>
            <a:ext cx="4114800" cy="274320"/>
          </a:xfrm>
          <a:prstGeom prst="rect">
            <a:avLst/>
          </a:prstGeom>
          <a:noFill/>
          <a:ln/>
        </p:spPr>
        <p:txBody>
          <a:bodyPr wrap="square" rtlCol="0" anchor="ctr"/>
          <a:lstStyle/>
          <a:p>
            <a:pPr algn="ctr" indent="0" marL="0">
              <a:buNone/>
            </a:pPr>
            <a:r>
              <a:rPr lang="en-US" sz="900" i="1" dirty="0">
                <a:solidFill>
                  <a:srgbClr val="666666"/>
                </a:solidFill>
                <a:latin typeface="Calibri" pitchFamily="34" charset="0"/>
                <a:ea typeface="Calibri" pitchFamily="34" charset="-122"/>
                <a:cs typeface="Calibri" pitchFamily="34" charset="-120"/>
              </a:rPr>
              <a:t>Figure 2: Likelihood of adopting a single app (n=33)</a:t>
            </a:r>
            <a:endParaRPr lang="en-US" sz="900" dirty="0"/>
          </a:p>
        </p:txBody>
      </p:sp>
      <p:sp>
        <p:nvSpPr>
          <p:cNvPr id="8" name="Shape 5"/>
          <p:cNvSpPr/>
          <p:nvPr/>
        </p:nvSpPr>
        <p:spPr>
          <a:xfrm>
            <a:off x="4846320" y="1188720"/>
            <a:ext cx="3840480" cy="1097280"/>
          </a:xfrm>
          <a:prstGeom prst="roundRect">
            <a:avLst>
              <a:gd name="adj" fmla="val 8333"/>
            </a:avLst>
          </a:prstGeom>
          <a:solidFill>
            <a:srgbClr val="FFFFFF"/>
          </a:solidFill>
          <a:ln/>
          <a:effectLst>
            <a:outerShdw sx="100000" sy="100000" kx="0" ky="0" algn="bl" rotWithShape="0" blurRad="50800" dist="25400" dir="8100000">
              <a:srgbClr val="000000">
                <a:alpha val="10000"/>
              </a:srgbClr>
            </a:outerShdw>
          </a:effectLst>
        </p:spPr>
      </p:sp>
      <p:sp>
        <p:nvSpPr>
          <p:cNvPr id="9" name="Text 6"/>
          <p:cNvSpPr/>
          <p:nvPr/>
        </p:nvSpPr>
        <p:spPr>
          <a:xfrm>
            <a:off x="4846320" y="1188720"/>
            <a:ext cx="3840480" cy="640080"/>
          </a:xfrm>
          <a:prstGeom prst="rect">
            <a:avLst/>
          </a:prstGeom>
          <a:noFill/>
          <a:ln/>
        </p:spPr>
        <p:txBody>
          <a:bodyPr wrap="square" rtlCol="0" anchor="ctr"/>
          <a:lstStyle/>
          <a:p>
            <a:pPr algn="ctr" indent="0" marL="0">
              <a:buNone/>
            </a:pPr>
            <a:r>
              <a:rPr lang="en-US" sz="4200" b="1" dirty="0">
                <a:solidFill>
                  <a:srgbClr val="00853E"/>
                </a:solidFill>
                <a:latin typeface="Georgia" pitchFamily="34" charset="0"/>
                <a:ea typeface="Georgia" pitchFamily="34" charset="-122"/>
                <a:cs typeface="Georgia" pitchFamily="34" charset="-120"/>
              </a:rPr>
              <a:t>60%+</a:t>
            </a:r>
            <a:endParaRPr lang="en-US" sz="4200" dirty="0"/>
          </a:p>
        </p:txBody>
      </p:sp>
      <p:sp>
        <p:nvSpPr>
          <p:cNvPr id="10" name="Text 7"/>
          <p:cNvSpPr/>
          <p:nvPr/>
        </p:nvSpPr>
        <p:spPr>
          <a:xfrm>
            <a:off x="4846320" y="1828800"/>
            <a:ext cx="3840480" cy="365760"/>
          </a:xfrm>
          <a:prstGeom prst="rect">
            <a:avLst/>
          </a:prstGeom>
          <a:noFill/>
          <a:ln/>
        </p:spPr>
        <p:txBody>
          <a:bodyPr wrap="square" rtlCol="0" anchor="ctr"/>
          <a:lstStyle/>
          <a:p>
            <a:pPr algn="ctr" indent="0" marL="0">
              <a:buNone/>
            </a:pPr>
            <a:r>
              <a:rPr lang="en-US" sz="1300" dirty="0">
                <a:solidFill>
                  <a:srgbClr val="666666"/>
                </a:solidFill>
                <a:latin typeface="Calibri" pitchFamily="34" charset="0"/>
                <a:ea typeface="Calibri" pitchFamily="34" charset="-122"/>
                <a:cs typeface="Calibri" pitchFamily="34" charset="-120"/>
              </a:rPr>
              <a:t>willing to adopt a single app</a:t>
            </a:r>
            <a:endParaRPr lang="en-US" sz="1300" dirty="0"/>
          </a:p>
        </p:txBody>
      </p:sp>
      <p:sp>
        <p:nvSpPr>
          <p:cNvPr id="11" name="Text 8"/>
          <p:cNvSpPr/>
          <p:nvPr/>
        </p:nvSpPr>
        <p:spPr>
          <a:xfrm>
            <a:off x="4846320" y="2651760"/>
            <a:ext cx="3840480" cy="1828800"/>
          </a:xfrm>
          <a:prstGeom prst="rect">
            <a:avLst/>
          </a:prstGeom>
          <a:noFill/>
          <a:ln/>
        </p:spPr>
        <p:txBody>
          <a:bodyPr wrap="square" rtlCol="0" anchor="t"/>
          <a:lstStyle/>
          <a:p>
            <a:pPr indent="0" marL="0">
              <a:buNone/>
            </a:pPr>
            <a:r>
              <a:rPr lang="en-US" sz="1300" b="1" dirty="0">
                <a:solidFill>
                  <a:srgbClr val="1A1A2E"/>
                </a:solidFill>
                <a:latin typeface="Calibri" pitchFamily="34" charset="0"/>
                <a:ea typeface="Calibri" pitchFamily="34" charset="-122"/>
                <a:cs typeface="Calibri" pitchFamily="34" charset="-120"/>
              </a:rPr>
              <a:t>Top-rated features:</a:t>
            </a:r>
            <a:endParaRPr lang="en-US" sz="1300" dirty="0"/>
          </a:p>
          <a:p>
            <a:pPr indent="0" marL="0">
              <a:buNone/>
            </a:pPr>
            <a:endParaRPr lang="en-US" sz="13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Emergency notifications</a:t>
            </a:r>
            <a:endParaRPr lang="en-US" sz="13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Absence reporting</a:t>
            </a:r>
            <a:endParaRPr lang="en-US" sz="13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Student records access</a:t>
            </a:r>
            <a:endParaRPr lang="en-US" sz="13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Teacher messaging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5F1"/>
          </a:solidFill>
          <a:ln/>
        </p:spPr>
      </p:sp>
      <p:sp>
        <p:nvSpPr>
          <p:cNvPr id="3" name="Shape 1"/>
          <p:cNvSpPr/>
          <p:nvPr/>
        </p:nvSpPr>
        <p:spPr>
          <a:xfrm>
            <a:off x="0" y="0"/>
            <a:ext cx="9144000" cy="73152"/>
          </a:xfrm>
          <a:prstGeom prst="rect">
            <a:avLst/>
          </a:prstGeom>
          <a:solidFill>
            <a:srgbClr val="00853E"/>
          </a:solidFill>
          <a:ln/>
        </p:spPr>
      </p:sp>
      <p:sp>
        <p:nvSpPr>
          <p:cNvPr id="4" name="Shape 2"/>
          <p:cNvSpPr/>
          <p:nvPr/>
        </p:nvSpPr>
        <p:spPr>
          <a:xfrm>
            <a:off x="0" y="4800600"/>
            <a:ext cx="9144000" cy="342900"/>
          </a:xfrm>
          <a:prstGeom prst="rect">
            <a:avLst/>
          </a:prstGeom>
          <a:solidFill>
            <a:srgbClr val="00853E"/>
          </a:solidFill>
          <a:ln/>
        </p:spPr>
      </p:sp>
      <p:sp>
        <p:nvSpPr>
          <p:cNvPr id="5" name="Text 3"/>
          <p:cNvSpPr/>
          <p:nvPr/>
        </p:nvSpPr>
        <p:spPr>
          <a:xfrm>
            <a:off x="731520" y="274320"/>
            <a:ext cx="7680960" cy="640080"/>
          </a:xfrm>
          <a:prstGeom prst="rect">
            <a:avLst/>
          </a:prstGeom>
          <a:noFill/>
          <a:ln/>
        </p:spPr>
        <p:txBody>
          <a:bodyPr wrap="square" rtlCol="0" anchor="ctr"/>
          <a:lstStyle/>
          <a:p>
            <a:pPr indent="0" marL="0">
              <a:buNone/>
            </a:pPr>
            <a:r>
              <a:rPr lang="en-US" sz="2400" b="1" dirty="0">
                <a:solidFill>
                  <a:srgbClr val="1A1A2E"/>
                </a:solidFill>
                <a:latin typeface="Georgia" pitchFamily="34" charset="0"/>
                <a:ea typeface="Georgia" pitchFamily="34" charset="-122"/>
                <a:cs typeface="Georgia" pitchFamily="34" charset="-120"/>
              </a:rPr>
              <a:t>RESULTS: DATA SECURITY CONCERNS</a:t>
            </a:r>
            <a:endParaRPr lang="en-US" sz="2400" dirty="0"/>
          </a:p>
        </p:txBody>
      </p:sp>
      <p:pic>
        <p:nvPicPr>
          <p:cNvPr id="6" name="Image 0" descr="/home/claude/chart3_security.png">    </p:cNvPr>
          <p:cNvPicPr>
            <a:picLocks noChangeAspect="1"/>
          </p:cNvPicPr>
          <p:nvPr/>
        </p:nvPicPr>
        <p:blipFill>
          <a:blip r:embed="rId1"/>
          <a:stretch>
            <a:fillRect/>
          </a:stretch>
        </p:blipFill>
        <p:spPr>
          <a:xfrm>
            <a:off x="457200" y="1005840"/>
            <a:ext cx="4114800" cy="2011680"/>
          </a:xfrm>
          <a:prstGeom prst="rect">
            <a:avLst/>
          </a:prstGeom>
        </p:spPr>
      </p:pic>
      <p:sp>
        <p:nvSpPr>
          <p:cNvPr id="7" name="Text 4"/>
          <p:cNvSpPr/>
          <p:nvPr/>
        </p:nvSpPr>
        <p:spPr>
          <a:xfrm>
            <a:off x="457200" y="3017520"/>
            <a:ext cx="4114800" cy="274320"/>
          </a:xfrm>
          <a:prstGeom prst="rect">
            <a:avLst/>
          </a:prstGeom>
          <a:noFill/>
          <a:ln/>
        </p:spPr>
        <p:txBody>
          <a:bodyPr wrap="square" rtlCol="0" anchor="ctr"/>
          <a:lstStyle/>
          <a:p>
            <a:pPr algn="ctr" indent="0" marL="0">
              <a:buNone/>
            </a:pPr>
            <a:r>
              <a:rPr lang="en-US" sz="900" i="1" dirty="0">
                <a:solidFill>
                  <a:srgbClr val="666666"/>
                </a:solidFill>
                <a:latin typeface="Calibri" pitchFamily="34" charset="0"/>
                <a:ea typeface="Calibri" pitchFamily="34" charset="-122"/>
                <a:cs typeface="Calibri" pitchFamily="34" charset="-120"/>
              </a:rPr>
              <a:t>Figure 3: Concern about student data security (n=32)</a:t>
            </a:r>
            <a:endParaRPr lang="en-US" sz="900" dirty="0"/>
          </a:p>
        </p:txBody>
      </p:sp>
      <p:sp>
        <p:nvSpPr>
          <p:cNvPr id="8" name="Text 5"/>
          <p:cNvSpPr/>
          <p:nvPr/>
        </p:nvSpPr>
        <p:spPr>
          <a:xfrm>
            <a:off x="4846320" y="1371600"/>
            <a:ext cx="3840480" cy="548640"/>
          </a:xfrm>
          <a:prstGeom prst="rect">
            <a:avLst/>
          </a:prstGeom>
          <a:noFill/>
          <a:ln/>
        </p:spPr>
        <p:txBody>
          <a:bodyPr wrap="square" rtlCol="0" anchor="ctr"/>
          <a:lstStyle/>
          <a:p>
            <a:pPr indent="0" marL="0">
              <a:buNone/>
            </a:pPr>
            <a:r>
              <a:rPr lang="en-US" sz="3600" b="1" dirty="0">
                <a:solidFill>
                  <a:srgbClr val="C00000"/>
                </a:solidFill>
                <a:latin typeface="Calibri" pitchFamily="34" charset="0"/>
                <a:ea typeface="Calibri" pitchFamily="34" charset="-122"/>
                <a:cs typeface="Calibri" pitchFamily="34" charset="-120"/>
              </a:rPr>
              <a:t>~63%</a:t>
            </a:r>
            <a:pPr indent="0" marL="0">
              <a:buNone/>
            </a:pPr>
            <a:r>
              <a:rPr lang="en-US" sz="1400" dirty="0">
                <a:solidFill>
                  <a:srgbClr val="666666"/>
                </a:solidFill>
                <a:latin typeface="Calibri" pitchFamily="34" charset="0"/>
                <a:ea typeface="Calibri" pitchFamily="34" charset="-122"/>
                <a:cs typeface="Calibri" pitchFamily="34" charset="-120"/>
              </a:rPr>
              <a:t>  expressed concern</a:t>
            </a:r>
            <a:endParaRPr lang="en-US" sz="3600" dirty="0"/>
          </a:p>
        </p:txBody>
      </p:sp>
      <p:sp>
        <p:nvSpPr>
          <p:cNvPr id="9" name="Text 6"/>
          <p:cNvSpPr/>
          <p:nvPr/>
        </p:nvSpPr>
        <p:spPr>
          <a:xfrm>
            <a:off x="4846320" y="2194560"/>
            <a:ext cx="3840480" cy="2011680"/>
          </a:xfrm>
          <a:prstGeom prst="rect">
            <a:avLst/>
          </a:prstGeom>
          <a:noFill/>
          <a:ln/>
        </p:spPr>
        <p:txBody>
          <a:bodyPr wrap="square" rtlCol="0" anchor="t"/>
          <a:lstStyle/>
          <a:p>
            <a:pPr indent="0" marL="0">
              <a:buNone/>
            </a:pPr>
            <a:r>
              <a:rPr lang="en-US" sz="1300" b="1" dirty="0">
                <a:solidFill>
                  <a:srgbClr val="1A1A2E"/>
                </a:solidFill>
                <a:latin typeface="Calibri" pitchFamily="34" charset="0"/>
                <a:ea typeface="Calibri" pitchFamily="34" charset="-122"/>
                <a:cs typeface="Calibri" pitchFamily="34" charset="-120"/>
              </a:rPr>
              <a:t>Project Clara addresses this through:</a:t>
            </a:r>
            <a:endParaRPr lang="en-US" sz="1300" dirty="0"/>
          </a:p>
          <a:p>
            <a:pPr indent="0" marL="0">
              <a:buNone/>
            </a:pPr>
            <a:endParaRPr lang="en-US" sz="13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AWS-based encryption (transit + at rest)</a:t>
            </a:r>
            <a:endParaRPr lang="en-US" sz="13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Role-based access control</a:t>
            </a:r>
            <a:endParaRPr lang="en-US" sz="13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Audit logging for all data access</a:t>
            </a:r>
            <a:endParaRPr lang="en-US" sz="1300" dirty="0"/>
          </a:p>
          <a:p>
            <a:pPr marL="342900" indent="-342900">
              <a:buSzPct val="100000"/>
              <a:buChar char="•"/>
            </a:pPr>
            <a:r>
              <a:rPr lang="en-US" sz="1200" dirty="0">
                <a:solidFill>
                  <a:srgbClr val="666666"/>
                </a:solidFill>
                <a:latin typeface="Calibri" pitchFamily="34" charset="0"/>
                <a:ea typeface="Calibri" pitchFamily="34" charset="-122"/>
                <a:cs typeface="Calibri" pitchFamily="34" charset="-120"/>
              </a:rPr>
              <a:t>Full FERPA compliance via AWS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5F1"/>
          </a:solidFill>
          <a:ln/>
        </p:spPr>
      </p:sp>
      <p:sp>
        <p:nvSpPr>
          <p:cNvPr id="3" name="Shape 1"/>
          <p:cNvSpPr/>
          <p:nvPr/>
        </p:nvSpPr>
        <p:spPr>
          <a:xfrm>
            <a:off x="0" y="0"/>
            <a:ext cx="9144000" cy="73152"/>
          </a:xfrm>
          <a:prstGeom prst="rect">
            <a:avLst/>
          </a:prstGeom>
          <a:solidFill>
            <a:srgbClr val="00853E"/>
          </a:solidFill>
          <a:ln/>
        </p:spPr>
      </p:sp>
      <p:sp>
        <p:nvSpPr>
          <p:cNvPr id="4" name="Shape 2"/>
          <p:cNvSpPr/>
          <p:nvPr/>
        </p:nvSpPr>
        <p:spPr>
          <a:xfrm>
            <a:off x="0" y="4800600"/>
            <a:ext cx="9144000" cy="342900"/>
          </a:xfrm>
          <a:prstGeom prst="rect">
            <a:avLst/>
          </a:prstGeom>
          <a:solidFill>
            <a:srgbClr val="00853E"/>
          </a:solidFill>
          <a:ln/>
        </p:spPr>
      </p:sp>
      <p:sp>
        <p:nvSpPr>
          <p:cNvPr id="5" name="Text 3"/>
          <p:cNvSpPr/>
          <p:nvPr/>
        </p:nvSpPr>
        <p:spPr>
          <a:xfrm>
            <a:off x="731520" y="274320"/>
            <a:ext cx="7680960" cy="640080"/>
          </a:xfrm>
          <a:prstGeom prst="rect">
            <a:avLst/>
          </a:prstGeom>
          <a:noFill/>
          <a:ln/>
        </p:spPr>
        <p:txBody>
          <a:bodyPr wrap="square" rtlCol="0" anchor="ctr"/>
          <a:lstStyle/>
          <a:p>
            <a:pPr indent="0" marL="0">
              <a:buNone/>
            </a:pPr>
            <a:r>
              <a:rPr lang="en-US" sz="2400" b="1" dirty="0">
                <a:solidFill>
                  <a:srgbClr val="1A1A2E"/>
                </a:solidFill>
                <a:latin typeface="Georgia" pitchFamily="34" charset="0"/>
                <a:ea typeface="Georgia" pitchFamily="34" charset="-122"/>
                <a:cs typeface="Georgia" pitchFamily="34" charset="-120"/>
              </a:rPr>
              <a:t>RESULTS: TECHNICAL FEASIBILITY</a:t>
            </a:r>
            <a:endParaRPr lang="en-US" sz="2400" dirty="0"/>
          </a:p>
        </p:txBody>
      </p:sp>
      <p:sp>
        <p:nvSpPr>
          <p:cNvPr id="6" name="Shape 4"/>
          <p:cNvSpPr/>
          <p:nvPr/>
        </p:nvSpPr>
        <p:spPr>
          <a:xfrm>
            <a:off x="731520" y="1097280"/>
            <a:ext cx="73152" cy="640080"/>
          </a:xfrm>
          <a:prstGeom prst="rect">
            <a:avLst/>
          </a:prstGeom>
          <a:solidFill>
            <a:srgbClr val="00853E"/>
          </a:solidFill>
          <a:ln/>
        </p:spPr>
      </p:sp>
      <p:sp>
        <p:nvSpPr>
          <p:cNvPr id="7" name="Text 5"/>
          <p:cNvSpPr/>
          <p:nvPr/>
        </p:nvSpPr>
        <p:spPr>
          <a:xfrm>
            <a:off x="1005840" y="1097280"/>
            <a:ext cx="2286000" cy="64008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React Native</a:t>
            </a:r>
            <a:endParaRPr lang="en-US" sz="1400" dirty="0"/>
          </a:p>
        </p:txBody>
      </p:sp>
      <p:sp>
        <p:nvSpPr>
          <p:cNvPr id="8" name="Text 6"/>
          <p:cNvSpPr/>
          <p:nvPr/>
        </p:nvSpPr>
        <p:spPr>
          <a:xfrm>
            <a:off x="3291840" y="1097280"/>
            <a:ext cx="5303520" cy="640080"/>
          </a:xfrm>
          <a:prstGeom prst="rect">
            <a:avLst/>
          </a:prstGeom>
          <a:noFill/>
          <a:ln/>
        </p:spPr>
        <p:txBody>
          <a:bodyPr wrap="square" rtlCol="0" anchor="ctr"/>
          <a:lstStyle/>
          <a:p>
            <a:pPr indent="0" marL="0">
              <a:buNone/>
            </a:pPr>
            <a:r>
              <a:rPr lang="en-US" sz="1200" dirty="0">
                <a:solidFill>
                  <a:srgbClr val="666666"/>
                </a:solidFill>
                <a:latin typeface="Calibri" pitchFamily="34" charset="0"/>
                <a:ea typeface="Calibri" pitchFamily="34" charset="-122"/>
                <a:cs typeface="Calibri" pitchFamily="34" charset="-120"/>
              </a:rPr>
              <a:t>Near-native performance, one codebase for iOS and Android (Biorn-Hansen et al.)</a:t>
            </a:r>
            <a:endParaRPr lang="en-US" sz="1200" dirty="0"/>
          </a:p>
        </p:txBody>
      </p:sp>
      <p:sp>
        <p:nvSpPr>
          <p:cNvPr id="9" name="Shape 7"/>
          <p:cNvSpPr/>
          <p:nvPr/>
        </p:nvSpPr>
        <p:spPr>
          <a:xfrm>
            <a:off x="731520" y="2011680"/>
            <a:ext cx="73152" cy="640080"/>
          </a:xfrm>
          <a:prstGeom prst="rect">
            <a:avLst/>
          </a:prstGeom>
          <a:solidFill>
            <a:srgbClr val="00853E"/>
          </a:solidFill>
          <a:ln/>
        </p:spPr>
      </p:sp>
      <p:sp>
        <p:nvSpPr>
          <p:cNvPr id="10" name="Text 8"/>
          <p:cNvSpPr/>
          <p:nvPr/>
        </p:nvSpPr>
        <p:spPr>
          <a:xfrm>
            <a:off x="1005840" y="2011680"/>
            <a:ext cx="2286000" cy="64008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AWS Infrastructure</a:t>
            </a:r>
            <a:endParaRPr lang="en-US" sz="1400" dirty="0"/>
          </a:p>
        </p:txBody>
      </p:sp>
      <p:sp>
        <p:nvSpPr>
          <p:cNvPr id="11" name="Text 9"/>
          <p:cNvSpPr/>
          <p:nvPr/>
        </p:nvSpPr>
        <p:spPr>
          <a:xfrm>
            <a:off x="3291840" y="2011680"/>
            <a:ext cx="5303520" cy="640080"/>
          </a:xfrm>
          <a:prstGeom prst="rect">
            <a:avLst/>
          </a:prstGeom>
          <a:noFill/>
          <a:ln/>
        </p:spPr>
        <p:txBody>
          <a:bodyPr wrap="square" rtlCol="0" anchor="ctr"/>
          <a:lstStyle/>
          <a:p>
            <a:pPr indent="0" marL="0">
              <a:buNone/>
            </a:pPr>
            <a:r>
              <a:rPr lang="en-US" sz="1200" dirty="0">
                <a:solidFill>
                  <a:srgbClr val="666666"/>
                </a:solidFill>
                <a:latin typeface="Calibri" pitchFamily="34" charset="0"/>
                <a:ea typeface="Calibri" pitchFamily="34" charset="-122"/>
                <a:cs typeface="Calibri" pitchFamily="34" charset="-120"/>
              </a:rPr>
              <a:t>FERPA-compliant through Shared Responsibility Model (Amazon Web Services)</a:t>
            </a:r>
            <a:endParaRPr lang="en-US" sz="1200" dirty="0"/>
          </a:p>
        </p:txBody>
      </p:sp>
      <p:sp>
        <p:nvSpPr>
          <p:cNvPr id="12" name="Shape 10"/>
          <p:cNvSpPr/>
          <p:nvPr/>
        </p:nvSpPr>
        <p:spPr>
          <a:xfrm>
            <a:off x="731520" y="2926080"/>
            <a:ext cx="73152" cy="640080"/>
          </a:xfrm>
          <a:prstGeom prst="rect">
            <a:avLst/>
          </a:prstGeom>
          <a:solidFill>
            <a:srgbClr val="00853E"/>
          </a:solidFill>
          <a:ln/>
        </p:spPr>
      </p:sp>
      <p:sp>
        <p:nvSpPr>
          <p:cNvPr id="13" name="Text 11"/>
          <p:cNvSpPr/>
          <p:nvPr/>
        </p:nvSpPr>
        <p:spPr>
          <a:xfrm>
            <a:off x="1005840" y="2926080"/>
            <a:ext cx="2286000" cy="64008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Phased MVP</a:t>
            </a:r>
            <a:endParaRPr lang="en-US" sz="1400" dirty="0"/>
          </a:p>
        </p:txBody>
      </p:sp>
      <p:sp>
        <p:nvSpPr>
          <p:cNvPr id="14" name="Text 12"/>
          <p:cNvSpPr/>
          <p:nvPr/>
        </p:nvSpPr>
        <p:spPr>
          <a:xfrm>
            <a:off x="3291840" y="2926080"/>
            <a:ext cx="5303520" cy="640080"/>
          </a:xfrm>
          <a:prstGeom prst="rect">
            <a:avLst/>
          </a:prstGeom>
          <a:noFill/>
          <a:ln/>
        </p:spPr>
        <p:txBody>
          <a:bodyPr wrap="square" rtlCol="0" anchor="ctr"/>
          <a:lstStyle/>
          <a:p>
            <a:pPr indent="0" marL="0">
              <a:buNone/>
            </a:pPr>
            <a:r>
              <a:rPr lang="en-US" sz="1200" dirty="0">
                <a:solidFill>
                  <a:srgbClr val="666666"/>
                </a:solidFill>
                <a:latin typeface="Calibri" pitchFamily="34" charset="0"/>
                <a:ea typeface="Calibri" pitchFamily="34" charset="-122"/>
                <a:cs typeface="Calibri" pitchFamily="34" charset="-120"/>
              </a:rPr>
              <a:t>Start with login, roles, roster, attendance; defer GPS and integrations (Siripurapu)</a:t>
            </a:r>
            <a:endParaRPr lang="en-US" sz="1200" dirty="0"/>
          </a:p>
        </p:txBody>
      </p:sp>
      <p:sp>
        <p:nvSpPr>
          <p:cNvPr id="15" name="Shape 13"/>
          <p:cNvSpPr/>
          <p:nvPr/>
        </p:nvSpPr>
        <p:spPr>
          <a:xfrm>
            <a:off x="731520" y="3840480"/>
            <a:ext cx="73152" cy="640080"/>
          </a:xfrm>
          <a:prstGeom prst="rect">
            <a:avLst/>
          </a:prstGeom>
          <a:solidFill>
            <a:srgbClr val="00853E"/>
          </a:solidFill>
          <a:ln/>
        </p:spPr>
      </p:sp>
      <p:sp>
        <p:nvSpPr>
          <p:cNvPr id="16" name="Text 14"/>
          <p:cNvSpPr/>
          <p:nvPr/>
        </p:nvSpPr>
        <p:spPr>
          <a:xfrm>
            <a:off x="1005840" y="3840480"/>
            <a:ext cx="2286000" cy="64008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Academic Impact</a:t>
            </a:r>
            <a:endParaRPr lang="en-US" sz="1400" dirty="0"/>
          </a:p>
        </p:txBody>
      </p:sp>
      <p:sp>
        <p:nvSpPr>
          <p:cNvPr id="17" name="Text 15"/>
          <p:cNvSpPr/>
          <p:nvPr/>
        </p:nvSpPr>
        <p:spPr>
          <a:xfrm>
            <a:off x="3291840" y="3840480"/>
            <a:ext cx="5303520" cy="640080"/>
          </a:xfrm>
          <a:prstGeom prst="rect">
            <a:avLst/>
          </a:prstGeom>
          <a:noFill/>
          <a:ln/>
        </p:spPr>
        <p:txBody>
          <a:bodyPr wrap="square" rtlCol="0" anchor="ctr"/>
          <a:lstStyle/>
          <a:p>
            <a:pPr indent="0" marL="0">
              <a:buNone/>
            </a:pPr>
            <a:r>
              <a:rPr lang="en-US" sz="1200" dirty="0">
                <a:solidFill>
                  <a:srgbClr val="666666"/>
                </a:solidFill>
                <a:latin typeface="Calibri" pitchFamily="34" charset="0"/>
                <a:ea typeface="Calibri" pitchFamily="34" charset="-122"/>
                <a:cs typeface="Calibri" pitchFamily="34" charset="-120"/>
              </a:rPr>
              <a:t>Consistent parent-teacher messaging improves homework completion (Kraft &amp; Rogers)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Text 1"/>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DISCUSSION</a:t>
            </a:r>
            <a:endParaRPr lang="en-US" sz="3000" dirty="0"/>
          </a:p>
        </p:txBody>
      </p:sp>
      <p:sp>
        <p:nvSpPr>
          <p:cNvPr id="4" name="Shape 2"/>
          <p:cNvSpPr/>
          <p:nvPr/>
        </p:nvSpPr>
        <p:spPr>
          <a:xfrm>
            <a:off x="731520" y="1097280"/>
            <a:ext cx="7680960" cy="18288"/>
          </a:xfrm>
          <a:prstGeom prst="rect">
            <a:avLst/>
          </a:prstGeom>
          <a:solidFill>
            <a:srgbClr val="00853E"/>
          </a:solidFill>
          <a:ln/>
        </p:spPr>
      </p:sp>
      <p:sp>
        <p:nvSpPr>
          <p:cNvPr id="5" name="Text 3"/>
          <p:cNvSpPr/>
          <p:nvPr/>
        </p:nvSpPr>
        <p:spPr>
          <a:xfrm>
            <a:off x="1188720" y="1371600"/>
            <a:ext cx="6858000" cy="457200"/>
          </a:xfrm>
          <a:prstGeom prst="rect">
            <a:avLst/>
          </a:prstGeom>
          <a:noFill/>
          <a:ln/>
        </p:spPr>
        <p:txBody>
          <a:bodyPr wrap="square" rtlCol="0" anchor="ctr"/>
          <a:lstStyle/>
          <a:p>
            <a:pPr indent="0" marL="0">
              <a:buNone/>
            </a:pPr>
            <a:r>
              <a:rPr lang="en-US" sz="1400" dirty="0">
                <a:solidFill>
                  <a:srgbClr val="CCCCCC"/>
                </a:solidFill>
                <a:latin typeface="Calibri" pitchFamily="34" charset="0"/>
                <a:ea typeface="Calibri" pitchFamily="34" charset="-122"/>
                <a:cs typeface="Calibri" pitchFamily="34" charset="-120"/>
              </a:rPr>
              <a:t>National fragmentation patterns confirmed locally in Denton</a:t>
            </a:r>
            <a:endParaRPr lang="en-US" sz="1400" dirty="0"/>
          </a:p>
        </p:txBody>
      </p:sp>
      <p:sp>
        <p:nvSpPr>
          <p:cNvPr id="6" name="Shape 4"/>
          <p:cNvSpPr/>
          <p:nvPr/>
        </p:nvSpPr>
        <p:spPr>
          <a:xfrm>
            <a:off x="731520" y="1463040"/>
            <a:ext cx="228600" cy="228600"/>
          </a:xfrm>
          <a:prstGeom prst="ellipse">
            <a:avLst/>
          </a:prstGeom>
          <a:solidFill>
            <a:srgbClr val="00853E"/>
          </a:solidFill>
          <a:ln/>
        </p:spPr>
      </p:sp>
      <p:sp>
        <p:nvSpPr>
          <p:cNvPr id="7" name="Text 5"/>
          <p:cNvSpPr/>
          <p:nvPr/>
        </p:nvSpPr>
        <p:spPr>
          <a:xfrm>
            <a:off x="1188720" y="2011680"/>
            <a:ext cx="6858000" cy="457200"/>
          </a:xfrm>
          <a:prstGeom prst="rect">
            <a:avLst/>
          </a:prstGeom>
          <a:noFill/>
          <a:ln/>
        </p:spPr>
        <p:txBody>
          <a:bodyPr wrap="square" rtlCol="0" anchor="ctr"/>
          <a:lstStyle/>
          <a:p>
            <a:pPr indent="0" marL="0">
              <a:buNone/>
            </a:pPr>
            <a:r>
              <a:rPr lang="en-US" sz="1400" dirty="0">
                <a:solidFill>
                  <a:srgbClr val="CCCCCC"/>
                </a:solidFill>
                <a:latin typeface="Calibri" pitchFamily="34" charset="0"/>
                <a:ea typeface="Calibri" pitchFamily="34" charset="-122"/>
                <a:cs typeface="Calibri" pitchFamily="34" charset="-120"/>
              </a:rPr>
              <a:t>60%+ adoption interest aligns directly with Project Clara’s feature set</a:t>
            </a:r>
            <a:endParaRPr lang="en-US" sz="1400" dirty="0"/>
          </a:p>
        </p:txBody>
      </p:sp>
      <p:sp>
        <p:nvSpPr>
          <p:cNvPr id="8" name="Shape 6"/>
          <p:cNvSpPr/>
          <p:nvPr/>
        </p:nvSpPr>
        <p:spPr>
          <a:xfrm>
            <a:off x="731520" y="2103120"/>
            <a:ext cx="228600" cy="228600"/>
          </a:xfrm>
          <a:prstGeom prst="ellipse">
            <a:avLst/>
          </a:prstGeom>
          <a:solidFill>
            <a:srgbClr val="00853E"/>
          </a:solidFill>
          <a:ln/>
        </p:spPr>
      </p:sp>
      <p:sp>
        <p:nvSpPr>
          <p:cNvPr id="9" name="Text 7"/>
          <p:cNvSpPr/>
          <p:nvPr/>
        </p:nvSpPr>
        <p:spPr>
          <a:xfrm>
            <a:off x="1188720" y="2651760"/>
            <a:ext cx="6858000" cy="457200"/>
          </a:xfrm>
          <a:prstGeom prst="rect">
            <a:avLst/>
          </a:prstGeom>
          <a:noFill/>
          <a:ln/>
        </p:spPr>
        <p:txBody>
          <a:bodyPr wrap="square" rtlCol="0" anchor="ctr"/>
          <a:lstStyle/>
          <a:p>
            <a:pPr indent="0" marL="0">
              <a:buNone/>
            </a:pPr>
            <a:r>
              <a:rPr lang="en-US" sz="1400" dirty="0">
                <a:solidFill>
                  <a:srgbClr val="CCCCCC"/>
                </a:solidFill>
                <a:latin typeface="Calibri" pitchFamily="34" charset="0"/>
                <a:ea typeface="Calibri" pitchFamily="34" charset="-122"/>
                <a:cs typeface="Calibri" pitchFamily="34" charset="-120"/>
              </a:rPr>
              <a:t>Security concerns are both a challenge and an opportunity</a:t>
            </a:r>
            <a:endParaRPr lang="en-US" sz="1400" dirty="0"/>
          </a:p>
        </p:txBody>
      </p:sp>
      <p:sp>
        <p:nvSpPr>
          <p:cNvPr id="10" name="Shape 8"/>
          <p:cNvSpPr/>
          <p:nvPr/>
        </p:nvSpPr>
        <p:spPr>
          <a:xfrm>
            <a:off x="731520" y="2743200"/>
            <a:ext cx="228600" cy="228600"/>
          </a:xfrm>
          <a:prstGeom prst="ellipse">
            <a:avLst/>
          </a:prstGeom>
          <a:solidFill>
            <a:srgbClr val="00853E"/>
          </a:solidFill>
          <a:ln/>
        </p:spPr>
      </p:sp>
      <p:sp>
        <p:nvSpPr>
          <p:cNvPr id="11" name="Text 9"/>
          <p:cNvSpPr/>
          <p:nvPr/>
        </p:nvSpPr>
        <p:spPr>
          <a:xfrm>
            <a:off x="1188720" y="3291840"/>
            <a:ext cx="6858000" cy="457200"/>
          </a:xfrm>
          <a:prstGeom prst="rect">
            <a:avLst/>
          </a:prstGeom>
          <a:noFill/>
          <a:ln/>
        </p:spPr>
        <p:txBody>
          <a:bodyPr wrap="square" rtlCol="0" anchor="ctr"/>
          <a:lstStyle/>
          <a:p>
            <a:pPr indent="0" marL="0">
              <a:buNone/>
            </a:pPr>
            <a:r>
              <a:rPr lang="en-US" sz="1400" dirty="0">
                <a:solidFill>
                  <a:srgbClr val="CCCCCC"/>
                </a:solidFill>
                <a:latin typeface="Calibri" pitchFamily="34" charset="0"/>
                <a:ea typeface="Calibri" pitchFamily="34" charset="-122"/>
                <a:cs typeface="Calibri" pitchFamily="34" charset="-120"/>
              </a:rPr>
              <a:t>Mobile-first design is an equity imperative, not a luxury</a:t>
            </a:r>
            <a:endParaRPr lang="en-US" sz="1400" dirty="0"/>
          </a:p>
        </p:txBody>
      </p:sp>
      <p:sp>
        <p:nvSpPr>
          <p:cNvPr id="12" name="Shape 10"/>
          <p:cNvSpPr/>
          <p:nvPr/>
        </p:nvSpPr>
        <p:spPr>
          <a:xfrm>
            <a:off x="731520" y="3383280"/>
            <a:ext cx="228600" cy="228600"/>
          </a:xfrm>
          <a:prstGeom prst="ellipse">
            <a:avLst/>
          </a:prstGeom>
          <a:solidFill>
            <a:srgbClr val="00853E"/>
          </a:solidFill>
          <a:ln/>
        </p:spPr>
      </p:sp>
      <p:sp>
        <p:nvSpPr>
          <p:cNvPr id="13" name="Text 11"/>
          <p:cNvSpPr/>
          <p:nvPr/>
        </p:nvSpPr>
        <p:spPr>
          <a:xfrm>
            <a:off x="1188720" y="3931920"/>
            <a:ext cx="6858000" cy="457200"/>
          </a:xfrm>
          <a:prstGeom prst="rect">
            <a:avLst/>
          </a:prstGeom>
          <a:noFill/>
          <a:ln/>
        </p:spPr>
        <p:txBody>
          <a:bodyPr wrap="square" rtlCol="0" anchor="ctr"/>
          <a:lstStyle/>
          <a:p>
            <a:pPr indent="0" marL="0">
              <a:buNone/>
            </a:pPr>
            <a:r>
              <a:rPr lang="en-US" sz="1400" dirty="0">
                <a:solidFill>
                  <a:srgbClr val="CCCCCC"/>
                </a:solidFill>
                <a:latin typeface="Calibri" pitchFamily="34" charset="0"/>
                <a:ea typeface="Calibri" pitchFamily="34" charset="-122"/>
                <a:cs typeface="Calibri" pitchFamily="34" charset="-120"/>
              </a:rPr>
              <a:t>Limitation: eSurvey skews toward college-aged respondents</a:t>
            </a:r>
            <a:endParaRPr lang="en-US" sz="1400" dirty="0"/>
          </a:p>
        </p:txBody>
      </p:sp>
      <p:sp>
        <p:nvSpPr>
          <p:cNvPr id="14" name="Shape 12"/>
          <p:cNvSpPr/>
          <p:nvPr/>
        </p:nvSpPr>
        <p:spPr>
          <a:xfrm>
            <a:off x="731520" y="4023360"/>
            <a:ext cx="228600" cy="228600"/>
          </a:xfrm>
          <a:prstGeom prst="ellipse">
            <a:avLst/>
          </a:prstGeom>
          <a:solidFill>
            <a:srgbClr val="00853E"/>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5F1"/>
          </a:solidFill>
          <a:ln/>
        </p:spPr>
      </p:sp>
      <p:sp>
        <p:nvSpPr>
          <p:cNvPr id="3" name="Shape 1"/>
          <p:cNvSpPr/>
          <p:nvPr/>
        </p:nvSpPr>
        <p:spPr>
          <a:xfrm>
            <a:off x="0" y="0"/>
            <a:ext cx="9144000" cy="73152"/>
          </a:xfrm>
          <a:prstGeom prst="rect">
            <a:avLst/>
          </a:prstGeom>
          <a:solidFill>
            <a:srgbClr val="00853E"/>
          </a:solidFill>
          <a:ln/>
        </p:spPr>
      </p:sp>
      <p:sp>
        <p:nvSpPr>
          <p:cNvPr id="4" name="Shape 2"/>
          <p:cNvSpPr/>
          <p:nvPr/>
        </p:nvSpPr>
        <p:spPr>
          <a:xfrm>
            <a:off x="0" y="4800600"/>
            <a:ext cx="9144000" cy="342900"/>
          </a:xfrm>
          <a:prstGeom prst="rect">
            <a:avLst/>
          </a:prstGeom>
          <a:solidFill>
            <a:srgbClr val="00853E"/>
          </a:solidFill>
          <a:ln/>
        </p:spPr>
      </p:sp>
      <p:sp>
        <p:nvSpPr>
          <p:cNvPr id="5" name="Text 3"/>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RECOMMENDATIONS</a:t>
            </a:r>
            <a:endParaRPr lang="en-US" sz="3000" dirty="0"/>
          </a:p>
        </p:txBody>
      </p:sp>
      <p:sp>
        <p:nvSpPr>
          <p:cNvPr id="6" name="Shape 4"/>
          <p:cNvSpPr/>
          <p:nvPr/>
        </p:nvSpPr>
        <p:spPr>
          <a:xfrm>
            <a:off x="731520" y="1188720"/>
            <a:ext cx="7680960" cy="731520"/>
          </a:xfrm>
          <a:prstGeom prst="roundRect">
            <a:avLst>
              <a:gd name="adj" fmla="val 6250"/>
            </a:avLst>
          </a:prstGeom>
          <a:solidFill>
            <a:srgbClr val="FFFFFF"/>
          </a:solidFill>
          <a:ln/>
          <a:effectLst>
            <a:outerShdw sx="100000" sy="100000" kx="0" ky="0" algn="bl" rotWithShape="0" blurRad="38100" dist="12700" dir="8100000">
              <a:srgbClr val="000000">
                <a:alpha val="8000"/>
              </a:srgbClr>
            </a:outerShdw>
          </a:effectLst>
        </p:spPr>
      </p:sp>
      <p:sp>
        <p:nvSpPr>
          <p:cNvPr id="7" name="Shape 5"/>
          <p:cNvSpPr/>
          <p:nvPr/>
        </p:nvSpPr>
        <p:spPr>
          <a:xfrm>
            <a:off x="1005840" y="1325880"/>
            <a:ext cx="457200" cy="457200"/>
          </a:xfrm>
          <a:prstGeom prst="ellipse">
            <a:avLst/>
          </a:prstGeom>
          <a:solidFill>
            <a:srgbClr val="00853E"/>
          </a:solidFill>
          <a:ln/>
        </p:spPr>
      </p:sp>
      <p:sp>
        <p:nvSpPr>
          <p:cNvPr id="8" name="Text 6"/>
          <p:cNvSpPr/>
          <p:nvPr/>
        </p:nvSpPr>
        <p:spPr>
          <a:xfrm>
            <a:off x="1005840" y="13258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737360" y="1188720"/>
            <a:ext cx="6400800" cy="731520"/>
          </a:xfrm>
          <a:prstGeom prst="rect">
            <a:avLst/>
          </a:prstGeom>
          <a:noFill/>
          <a:ln/>
        </p:spPr>
        <p:txBody>
          <a:bodyPr wrap="square" rtlCol="0" anchor="ctr"/>
          <a:lstStyle/>
          <a:p>
            <a:pPr indent="0" marL="0">
              <a:buNone/>
            </a:pPr>
            <a:r>
              <a:rPr lang="en-US" sz="1500" dirty="0">
                <a:solidFill>
                  <a:srgbClr val="1A1A2E"/>
                </a:solidFill>
                <a:latin typeface="Calibri" pitchFamily="34" charset="0"/>
                <a:ea typeface="Calibri" pitchFamily="34" charset="-122"/>
                <a:cs typeface="Calibri" pitchFamily="34" charset="-120"/>
              </a:rPr>
              <a:t>Pilot Project Clara at one Denton ISD elementary school</a:t>
            </a:r>
            <a:endParaRPr lang="en-US" sz="1500" dirty="0"/>
          </a:p>
        </p:txBody>
      </p:sp>
      <p:sp>
        <p:nvSpPr>
          <p:cNvPr id="10" name="Shape 8"/>
          <p:cNvSpPr/>
          <p:nvPr/>
        </p:nvSpPr>
        <p:spPr>
          <a:xfrm>
            <a:off x="731520" y="2103120"/>
            <a:ext cx="7680960" cy="731520"/>
          </a:xfrm>
          <a:prstGeom prst="roundRect">
            <a:avLst>
              <a:gd name="adj" fmla="val 6250"/>
            </a:avLst>
          </a:prstGeom>
          <a:solidFill>
            <a:srgbClr val="FFFFFF"/>
          </a:solidFill>
          <a:ln/>
          <a:effectLst>
            <a:outerShdw sx="100000" sy="100000" kx="0" ky="0" algn="bl" rotWithShape="0" blurRad="38100" dist="12700" dir="8100000">
              <a:srgbClr val="000000">
                <a:alpha val="8000"/>
              </a:srgbClr>
            </a:outerShdw>
          </a:effectLst>
        </p:spPr>
      </p:sp>
      <p:sp>
        <p:nvSpPr>
          <p:cNvPr id="11" name="Shape 9"/>
          <p:cNvSpPr/>
          <p:nvPr/>
        </p:nvSpPr>
        <p:spPr>
          <a:xfrm>
            <a:off x="1005840" y="2240280"/>
            <a:ext cx="457200" cy="457200"/>
          </a:xfrm>
          <a:prstGeom prst="ellipse">
            <a:avLst/>
          </a:prstGeom>
          <a:solidFill>
            <a:srgbClr val="00853E"/>
          </a:solidFill>
          <a:ln/>
        </p:spPr>
      </p:sp>
      <p:sp>
        <p:nvSpPr>
          <p:cNvPr id="12" name="Text 10"/>
          <p:cNvSpPr/>
          <p:nvPr/>
        </p:nvSpPr>
        <p:spPr>
          <a:xfrm>
            <a:off x="1005840" y="2240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737360" y="2103120"/>
            <a:ext cx="6400800" cy="731520"/>
          </a:xfrm>
          <a:prstGeom prst="rect">
            <a:avLst/>
          </a:prstGeom>
          <a:noFill/>
          <a:ln/>
        </p:spPr>
        <p:txBody>
          <a:bodyPr wrap="square" rtlCol="0" anchor="ctr"/>
          <a:lstStyle/>
          <a:p>
            <a:pPr indent="0" marL="0">
              <a:buNone/>
            </a:pPr>
            <a:r>
              <a:rPr lang="en-US" sz="1500" dirty="0">
                <a:solidFill>
                  <a:srgbClr val="1A1A2E"/>
                </a:solidFill>
                <a:latin typeface="Calibri" pitchFamily="34" charset="0"/>
                <a:ea typeface="Calibri" pitchFamily="34" charset="-122"/>
                <a:cs typeface="Calibri" pitchFamily="34" charset="-120"/>
              </a:rPr>
              <a:t>Assign a district liaison from the Technology Division</a:t>
            </a:r>
            <a:endParaRPr lang="en-US" sz="1500" dirty="0"/>
          </a:p>
        </p:txBody>
      </p:sp>
      <p:sp>
        <p:nvSpPr>
          <p:cNvPr id="14" name="Shape 12"/>
          <p:cNvSpPr/>
          <p:nvPr/>
        </p:nvSpPr>
        <p:spPr>
          <a:xfrm>
            <a:off x="731520" y="3017520"/>
            <a:ext cx="7680960" cy="731520"/>
          </a:xfrm>
          <a:prstGeom prst="roundRect">
            <a:avLst>
              <a:gd name="adj" fmla="val 6250"/>
            </a:avLst>
          </a:prstGeom>
          <a:solidFill>
            <a:srgbClr val="FFFFFF"/>
          </a:solidFill>
          <a:ln/>
          <a:effectLst>
            <a:outerShdw sx="100000" sy="100000" kx="0" ky="0" algn="bl" rotWithShape="0" blurRad="38100" dist="12700" dir="8100000">
              <a:srgbClr val="000000">
                <a:alpha val="8000"/>
              </a:srgbClr>
            </a:outerShdw>
          </a:effectLst>
        </p:spPr>
      </p:sp>
      <p:sp>
        <p:nvSpPr>
          <p:cNvPr id="15" name="Shape 13"/>
          <p:cNvSpPr/>
          <p:nvPr/>
        </p:nvSpPr>
        <p:spPr>
          <a:xfrm>
            <a:off x="1005840" y="3154680"/>
            <a:ext cx="457200" cy="457200"/>
          </a:xfrm>
          <a:prstGeom prst="ellipse">
            <a:avLst/>
          </a:prstGeom>
          <a:solidFill>
            <a:srgbClr val="00853E"/>
          </a:solidFill>
          <a:ln/>
        </p:spPr>
      </p:sp>
      <p:sp>
        <p:nvSpPr>
          <p:cNvPr id="16" name="Text 14"/>
          <p:cNvSpPr/>
          <p:nvPr/>
        </p:nvSpPr>
        <p:spPr>
          <a:xfrm>
            <a:off x="1005840" y="31546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737360" y="3017520"/>
            <a:ext cx="6400800" cy="731520"/>
          </a:xfrm>
          <a:prstGeom prst="rect">
            <a:avLst/>
          </a:prstGeom>
          <a:noFill/>
          <a:ln/>
        </p:spPr>
        <p:txBody>
          <a:bodyPr wrap="square"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Conduct a follow-up parent survey at the pilot school</a:t>
            </a:r>
            <a:endParaRPr lang="en-US" sz="1500" dirty="0"/>
          </a:p>
        </p:txBody>
      </p:sp>
      <p:sp>
        <p:nvSpPr>
          <p:cNvPr id="18" name="Shape 16"/>
          <p:cNvSpPr/>
          <p:nvPr/>
        </p:nvSpPr>
        <p:spPr>
          <a:xfrm>
            <a:off x="731520" y="3931920"/>
            <a:ext cx="7680960" cy="731520"/>
          </a:xfrm>
          <a:prstGeom prst="roundRect">
            <a:avLst>
              <a:gd name="adj" fmla="val 6250"/>
            </a:avLst>
          </a:prstGeom>
          <a:solidFill>
            <a:srgbClr val="FFFFFF"/>
          </a:solidFill>
          <a:ln/>
          <a:effectLst>
            <a:outerShdw sx="100000" sy="100000" kx="0" ky="0" algn="bl" rotWithShape="0" blurRad="38100" dist="12700" dir="8100000">
              <a:srgbClr val="000000">
                <a:alpha val="8000"/>
              </a:srgbClr>
            </a:outerShdw>
          </a:effectLst>
        </p:spPr>
      </p:sp>
      <p:sp>
        <p:nvSpPr>
          <p:cNvPr id="19" name="Shape 17"/>
          <p:cNvSpPr/>
          <p:nvPr/>
        </p:nvSpPr>
        <p:spPr>
          <a:xfrm>
            <a:off x="1005840" y="4069080"/>
            <a:ext cx="457200" cy="457200"/>
          </a:xfrm>
          <a:prstGeom prst="ellipse">
            <a:avLst/>
          </a:prstGeom>
          <a:solidFill>
            <a:srgbClr val="00853E"/>
          </a:solidFill>
          <a:ln/>
        </p:spPr>
      </p:sp>
      <p:sp>
        <p:nvSpPr>
          <p:cNvPr id="20" name="Text 18"/>
          <p:cNvSpPr/>
          <p:nvPr/>
        </p:nvSpPr>
        <p:spPr>
          <a:xfrm>
            <a:off x="1005840" y="40690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737360" y="3931920"/>
            <a:ext cx="6400800" cy="731520"/>
          </a:xfrm>
          <a:prstGeom prst="rect">
            <a:avLst/>
          </a:prstGeom>
          <a:noFill/>
          <a:ln/>
        </p:spPr>
        <p:txBody>
          <a:bodyPr wrap="square" rtlCol="0" anchor="ctr"/>
          <a:lstStyle/>
          <a:p>
            <a:pPr indent="0" marL="0">
              <a:buNone/>
            </a:pPr>
            <a:r>
              <a:rPr lang="en-US" sz="1500" dirty="0">
                <a:solidFill>
                  <a:srgbClr val="1A1A2E"/>
                </a:solidFill>
                <a:latin typeface="Calibri" pitchFamily="34" charset="0"/>
                <a:ea typeface="Calibri" pitchFamily="34" charset="-122"/>
                <a:cs typeface="Calibri" pitchFamily="34" charset="-120"/>
              </a:rPr>
              <a:t>Adopt a phased implementation timeline (MVP first)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p:spPr>
      </p:sp>
      <p:sp>
        <p:nvSpPr>
          <p:cNvPr id="3" name="Shape 1"/>
          <p:cNvSpPr/>
          <p:nvPr/>
        </p:nvSpPr>
        <p:spPr>
          <a:xfrm>
            <a:off x="0" y="1645920"/>
            <a:ext cx="9144000" cy="2194560"/>
          </a:xfrm>
          <a:prstGeom prst="rect">
            <a:avLst/>
          </a:prstGeom>
          <a:solidFill>
            <a:srgbClr val="00853E"/>
          </a:solidFill>
          <a:ln/>
        </p:spPr>
      </p:sp>
      <p:sp>
        <p:nvSpPr>
          <p:cNvPr id="4" name="Text 2"/>
          <p:cNvSpPr/>
          <p:nvPr/>
        </p:nvSpPr>
        <p:spPr>
          <a:xfrm>
            <a:off x="914400" y="1737360"/>
            <a:ext cx="7315200" cy="1645920"/>
          </a:xfrm>
          <a:prstGeom prst="rect">
            <a:avLst/>
          </a:prstGeom>
          <a:noFill/>
          <a:ln/>
        </p:spPr>
        <p:txBody>
          <a:bodyPr wrap="square" rtlCol="0" anchor="ctr"/>
          <a:lstStyle/>
          <a:p>
            <a:pPr algn="ctr" indent="0" marL="0">
              <a:lnSpc>
                <a:spcPct val="150000"/>
              </a:lnSpc>
              <a:buNone/>
            </a:pPr>
            <a:r>
              <a:rPr lang="en-US" sz="2600" b="1" dirty="0">
                <a:solidFill>
                  <a:srgbClr val="FFFFFF"/>
                </a:solidFill>
                <a:latin typeface="Georgia" pitchFamily="34" charset="0"/>
                <a:ea typeface="Georgia" pitchFamily="34" charset="-122"/>
                <a:cs typeface="Georgia" pitchFamily="34" charset="-120"/>
              </a:rPr>
              <a:t>The need is real.</a:t>
            </a:r>
            <a:endParaRPr lang="en-US" sz="2600" dirty="0"/>
          </a:p>
          <a:p>
            <a:pPr algn="ctr" indent="0" marL="0">
              <a:lnSpc>
                <a:spcPct val="150000"/>
              </a:lnSpc>
              <a:buNone/>
            </a:pPr>
            <a:r>
              <a:rPr lang="en-US" sz="2600" b="1" dirty="0">
                <a:solidFill>
                  <a:srgbClr val="FFFFFF"/>
                </a:solidFill>
                <a:latin typeface="Georgia" pitchFamily="34" charset="0"/>
                <a:ea typeface="Georgia" pitchFamily="34" charset="-122"/>
                <a:cs typeface="Georgia" pitchFamily="34" charset="-120"/>
              </a:rPr>
              <a:t>The solution is feasible.</a:t>
            </a:r>
            <a:endParaRPr lang="en-US" sz="2600" dirty="0"/>
          </a:p>
          <a:p>
            <a:pPr algn="ctr" indent="0" marL="0">
              <a:lnSpc>
                <a:spcPct val="150000"/>
              </a:lnSpc>
              <a:buNone/>
            </a:pPr>
            <a:r>
              <a:rPr lang="en-US" sz="2600" b="1" dirty="0">
                <a:solidFill>
                  <a:srgbClr val="FFFFFF"/>
                </a:solidFill>
                <a:latin typeface="Georgia" pitchFamily="34" charset="0"/>
                <a:ea typeface="Georgia" pitchFamily="34" charset="-122"/>
                <a:cs typeface="Georgia" pitchFamily="34" charset="-120"/>
              </a:rPr>
              <a:t>The community is ready.</a:t>
            </a:r>
            <a:endParaRPr lang="en-US" sz="2600" dirty="0"/>
          </a:p>
        </p:txBody>
      </p:sp>
      <p:sp>
        <p:nvSpPr>
          <p:cNvPr id="5" name="Text 3"/>
          <p:cNvSpPr/>
          <p:nvPr/>
        </p:nvSpPr>
        <p:spPr>
          <a:xfrm>
            <a:off x="914400" y="3383280"/>
            <a:ext cx="7315200" cy="365760"/>
          </a:xfrm>
          <a:prstGeom prst="rect">
            <a:avLst/>
          </a:prstGeom>
          <a:noFill/>
          <a:ln/>
        </p:spPr>
        <p:txBody>
          <a:bodyPr wrap="square" rtlCol="0" anchor="ctr"/>
          <a:lstStyle/>
          <a:p>
            <a:pPr algn="ctr" indent="0" marL="0">
              <a:buNone/>
            </a:pPr>
            <a:r>
              <a:rPr lang="en-US" sz="1400" spc="600" kern="0" dirty="0">
                <a:solidFill>
                  <a:srgbClr val="FFFFFF"/>
                </a:solidFill>
                <a:latin typeface="Calibri" pitchFamily="34" charset="0"/>
                <a:ea typeface="Calibri" pitchFamily="34" charset="-122"/>
                <a:cs typeface="Calibri" pitchFamily="34" charset="-120"/>
              </a:rPr>
              <a:t>PROJECT CLARA</a:t>
            </a:r>
            <a:endParaRPr lang="en-US" sz="1400" dirty="0"/>
          </a:p>
        </p:txBody>
      </p:sp>
      <p:sp>
        <p:nvSpPr>
          <p:cNvPr id="6" name="Text 4"/>
          <p:cNvSpPr/>
          <p:nvPr/>
        </p:nvSpPr>
        <p:spPr>
          <a:xfrm>
            <a:off x="914400" y="4206240"/>
            <a:ext cx="7315200" cy="365760"/>
          </a:xfrm>
          <a:prstGeom prst="rect">
            <a:avLst/>
          </a:prstGeom>
          <a:noFill/>
          <a:ln/>
        </p:spPr>
        <p:txBody>
          <a:bodyPr wrap="square" rtlCol="0" anchor="ctr"/>
          <a:lstStyle/>
          <a:p>
            <a:pPr algn="ctr" indent="0" marL="0">
              <a:buNone/>
            </a:pPr>
            <a:r>
              <a:rPr lang="en-US" sz="1200" dirty="0">
                <a:solidFill>
                  <a:srgbClr val="999999"/>
                </a:solidFill>
                <a:latin typeface="Calibri" pitchFamily="34" charset="0"/>
                <a:ea typeface="Calibri" pitchFamily="34" charset="-122"/>
                <a:cs typeface="Calibri" pitchFamily="34" charset="-120"/>
              </a:rPr>
              <a:t>Hayat Dahraj  |  HayatDahraj@my.unt.edu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Clara: A Unified School Communication Platform</dc:title>
  <dc:subject>PptxGenJS Presentation</dc:subject>
  <dc:creator>Hayat Dahraj</dc:creator>
  <cp:lastModifiedBy>Hayat Dahraj</cp:lastModifiedBy>
  <cp:revision>1</cp:revision>
  <dcterms:created xsi:type="dcterms:W3CDTF">2026-04-16T15:27:19Z</dcterms:created>
  <dcterms:modified xsi:type="dcterms:W3CDTF">2026-04-16T15:27:19Z</dcterms:modified>
</cp:coreProperties>
</file>